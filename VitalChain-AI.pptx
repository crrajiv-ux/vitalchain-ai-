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73" r:id="rId11"/>
    <p:sldId id="268" r:id="rId12"/>
    <p:sldId id="276" r:id="rId13"/>
    <p:sldId id="277" r:id="rId14"/>
  </p:sldIdLst>
  <p:sldSz cx="14630400" cy="8229600"/>
  <p:notesSz cx="8229600" cy="14630400"/>
  <p:embeddedFontLst>
    <p:embeddedFont>
      <p:font typeface="Algerian" panose="04020705040A02060702" pitchFamily="82" charset="0"/>
      <p:regular r:id="rId16"/>
    </p:embeddedFont>
    <p:embeddedFont>
      <p:font typeface="Arial Rounded MT Bold" panose="020F0704030504030204" pitchFamily="34" charset="0"/>
      <p:regular r:id="rId17"/>
    </p:embeddedFont>
    <p:embeddedFont>
      <p:font typeface="Barlow" panose="00000500000000000000" pitchFamily="2" charset="0"/>
      <p:regular r:id="rId18"/>
      <p:bold r:id="rId19"/>
      <p:italic r:id="rId20"/>
      <p:boldItalic r:id="rId21"/>
    </p:embeddedFont>
    <p:embeddedFont>
      <p:font typeface="Eras Bold ITC" panose="020B0907030504020204" pitchFamily="34" charset="0"/>
      <p:regular r:id="rId22"/>
    </p:embeddedFont>
    <p:embeddedFont>
      <p:font typeface="Spline Sans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F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Thakur" userId="bc1000531bf4dc54" providerId="LiveId" clId="{BC82C108-4F94-4A22-AE5D-26DAD8886A51}"/>
    <pc:docChg chg="custSel modSld">
      <pc:chgData name="Raj Thakur" userId="bc1000531bf4dc54" providerId="LiveId" clId="{BC82C108-4F94-4A22-AE5D-26DAD8886A51}" dt="2026-08-24T07:08:44.842" v="139" actId="20577"/>
      <pc:docMkLst>
        <pc:docMk/>
      </pc:docMkLst>
      <pc:sldChg chg="modSp mod">
        <pc:chgData name="Raj Thakur" userId="bc1000531bf4dc54" providerId="LiveId" clId="{BC82C108-4F94-4A22-AE5D-26DAD8886A51}" dt="2026-08-24T07:08:44.842" v="139" actId="20577"/>
        <pc:sldMkLst>
          <pc:docMk/>
          <pc:sldMk cId="1305763927" sldId="277"/>
        </pc:sldMkLst>
        <pc:spChg chg="mod">
          <ac:chgData name="Raj Thakur" userId="bc1000531bf4dc54" providerId="LiveId" clId="{BC82C108-4F94-4A22-AE5D-26DAD8886A51}" dt="2026-08-24T07:08:44.842" v="139" actId="20577"/>
          <ac:spMkLst>
            <pc:docMk/>
            <pc:sldMk cId="1305763927" sldId="277"/>
            <ac:spMk id="5" creationId="{FEBA8823-0D6E-5793-F44C-ECF0EE3C08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7" name="Google Shape;2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20" name="Google Shape;42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058A5AC7-CC87-FA04-73D8-08281D8F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>
            <a:extLst>
              <a:ext uri="{FF2B5EF4-FFF2-40B4-BE49-F238E27FC236}">
                <a16:creationId xmlns:a16="http://schemas.microsoft.com/office/drawing/2014/main" id="{785F1B46-EC4C-338A-EF37-F8A3B91F7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82" name="Google Shape;482;p21:notes">
            <a:extLst>
              <a:ext uri="{FF2B5EF4-FFF2-40B4-BE49-F238E27FC236}">
                <a16:creationId xmlns:a16="http://schemas.microsoft.com/office/drawing/2014/main" id="{648E93C9-3E3E-3BD7-9FC0-2985669B3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:notes">
            <a:extLst>
              <a:ext uri="{FF2B5EF4-FFF2-40B4-BE49-F238E27FC236}">
                <a16:creationId xmlns:a16="http://schemas.microsoft.com/office/drawing/2014/main" id="{4FE21E94-CADC-0305-7398-65D29CA623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508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8 master">
  <p:cSld name="Slide 18 mast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1 master">
  <p:cSld name="Slide 21 mast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2 master">
  <p:cSld name="Slide 22 mast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5" r:id="rId11"/>
    <p:sldLayoutId id="2147483668" r:id="rId12"/>
    <p:sldLayoutId id="2147483669" r:id="rId13"/>
    <p:sldLayoutId id="214748367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/>
          <p:nvPr/>
        </p:nvSpPr>
        <p:spPr>
          <a:xfrm>
            <a:off x="6713851" y="1259196"/>
            <a:ext cx="82799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8000" b="1" dirty="0">
                <a:solidFill>
                  <a:schemeClr val="tx1"/>
                </a:solidFill>
                <a:highlight>
                  <a:srgbClr val="0000FF"/>
                </a:highlight>
                <a:latin typeface="Eras Bold ITC" panose="020B0907030504020204" pitchFamily="34" charset="0"/>
                <a:sym typeface="Spline Sans"/>
              </a:rPr>
              <a:t>VitalChain-AI</a:t>
            </a:r>
            <a:endParaRPr sz="8000" b="0" i="0" u="none" strike="noStrike" cap="none" dirty="0">
              <a:solidFill>
                <a:schemeClr val="tx1"/>
              </a:solidFill>
              <a:highlight>
                <a:srgbClr val="0000FF"/>
              </a:highlight>
              <a:latin typeface="Eras Bold ITC" panose="020B0907030504020204" pitchFamily="34" charset="0"/>
            </a:endParaRPr>
          </a:p>
        </p:txBody>
      </p:sp>
      <p:sp>
        <p:nvSpPr>
          <p:cNvPr id="84" name="Google Shape;84;p25"/>
          <p:cNvSpPr/>
          <p:nvPr/>
        </p:nvSpPr>
        <p:spPr>
          <a:xfrm>
            <a:off x="6713851" y="3261479"/>
            <a:ext cx="7415927" cy="1097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450"/>
              <a:buFont typeface="Spline Sans"/>
              <a:buNone/>
            </a:pPr>
            <a:r>
              <a:rPr lang="en-US" sz="345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Protecting Life-Saving Medicines with AI and Blockchain</a:t>
            </a:r>
            <a:endParaRPr sz="3450" b="0" i="0" u="none" strike="noStrike" cap="none" dirty="0"/>
          </a:p>
        </p:txBody>
      </p:sp>
      <p:sp>
        <p:nvSpPr>
          <p:cNvPr id="85" name="Google Shape;85;p25"/>
          <p:cNvSpPr/>
          <p:nvPr/>
        </p:nvSpPr>
        <p:spPr>
          <a:xfrm>
            <a:off x="6713851" y="5017477"/>
            <a:ext cx="7415927" cy="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Autonomous Pharmaceutical Cold Chain Monitoring System</a:t>
            </a:r>
            <a:endParaRPr sz="1900" b="0" i="0" u="none" strike="noStrike" cap="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74C89-94EF-59F6-B65F-139F93BA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61538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/>
          <p:nvPr/>
        </p:nvSpPr>
        <p:spPr>
          <a:xfrm>
            <a:off x="3190110" y="674049"/>
            <a:ext cx="82032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$35 Billion Cold Chain Crisis</a:t>
            </a:r>
            <a:endParaRPr sz="4300" b="0" i="0" u="none" strike="noStrike" cap="none" dirty="0"/>
          </a:p>
        </p:txBody>
      </p:sp>
      <p:sp>
        <p:nvSpPr>
          <p:cNvPr id="93" name="Google Shape;93;p26"/>
          <p:cNvSpPr/>
          <p:nvPr/>
        </p:nvSpPr>
        <p:spPr>
          <a:xfrm>
            <a:off x="864036" y="2222841"/>
            <a:ext cx="4095036" cy="81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400"/>
              <a:buFont typeface="Spline Sans"/>
              <a:buNone/>
            </a:pPr>
            <a:r>
              <a:rPr lang="en-US" sz="6400" b="1" i="0" u="none" strike="noStrike" cap="none" dirty="0">
                <a:solidFill>
                  <a:srgbClr val="C00000"/>
                </a:solidFill>
                <a:latin typeface="Spline Sans"/>
                <a:ea typeface="Spline Sans"/>
                <a:cs typeface="Spline Sans"/>
                <a:sym typeface="Spline Sans"/>
              </a:rPr>
              <a:t>$35B</a:t>
            </a:r>
            <a:endParaRPr sz="6400" b="0" i="0" u="none" strike="noStrike" cap="none" dirty="0">
              <a:solidFill>
                <a:srgbClr val="C00000"/>
              </a:solidFill>
            </a:endParaRPr>
          </a:p>
        </p:txBody>
      </p:sp>
      <p:sp>
        <p:nvSpPr>
          <p:cNvPr id="94" name="Google Shape;94;p26"/>
          <p:cNvSpPr/>
          <p:nvPr/>
        </p:nvSpPr>
        <p:spPr>
          <a:xfrm>
            <a:off x="1361777" y="3143671"/>
            <a:ext cx="309955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sng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Annual Medicine Losses</a:t>
            </a:r>
            <a:endParaRPr sz="2150" b="0" i="0" u="sng" strike="noStrike" cap="none" dirty="0"/>
          </a:p>
        </p:txBody>
      </p:sp>
      <p:sp>
        <p:nvSpPr>
          <p:cNvPr id="95" name="Google Shape;95;p26"/>
          <p:cNvSpPr/>
          <p:nvPr/>
        </p:nvSpPr>
        <p:spPr>
          <a:xfrm>
            <a:off x="1063433" y="3470240"/>
            <a:ext cx="3696241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Worth of pharmaceuticals destroyed yearly due to temperature excursions</a:t>
            </a:r>
            <a:endParaRPr sz="1900" b="0" i="0" u="none" strike="noStrike" cap="none" dirty="0"/>
          </a:p>
        </p:txBody>
      </p:sp>
      <p:sp>
        <p:nvSpPr>
          <p:cNvPr id="96" name="Google Shape;96;p26"/>
          <p:cNvSpPr/>
          <p:nvPr/>
        </p:nvSpPr>
        <p:spPr>
          <a:xfrm>
            <a:off x="5388358" y="2222841"/>
            <a:ext cx="4095036" cy="81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400"/>
              <a:buFont typeface="Spline Sans"/>
              <a:buNone/>
            </a:pPr>
            <a:r>
              <a:rPr lang="en-US" sz="6400" b="1" i="0" u="none" strike="noStrike" cap="none" dirty="0">
                <a:solidFill>
                  <a:srgbClr val="C00000"/>
                </a:solidFill>
                <a:latin typeface="Spline Sans"/>
                <a:ea typeface="Spline Sans"/>
                <a:cs typeface="Spline Sans"/>
                <a:sym typeface="Spline Sans"/>
              </a:rPr>
              <a:t>2-8°C</a:t>
            </a:r>
            <a:endParaRPr sz="6400" b="0" i="0" u="none" strike="noStrike" cap="none" dirty="0">
              <a:solidFill>
                <a:srgbClr val="C00000"/>
              </a:solidFill>
            </a:endParaRPr>
          </a:p>
        </p:txBody>
      </p:sp>
      <p:sp>
        <p:nvSpPr>
          <p:cNvPr id="97" name="Google Shape;97;p26"/>
          <p:cNvSpPr/>
          <p:nvPr/>
        </p:nvSpPr>
        <p:spPr>
          <a:xfrm>
            <a:off x="5575926" y="3143671"/>
            <a:ext cx="38102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sng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Critical Temperature Range</a:t>
            </a:r>
            <a:endParaRPr sz="2150" b="0" i="0" u="sng" strike="noStrike" cap="none" dirty="0"/>
          </a:p>
        </p:txBody>
      </p:sp>
      <p:sp>
        <p:nvSpPr>
          <p:cNvPr id="98" name="Google Shape;98;p26"/>
          <p:cNvSpPr/>
          <p:nvPr/>
        </p:nvSpPr>
        <p:spPr>
          <a:xfrm>
            <a:off x="5611095" y="3485943"/>
            <a:ext cx="3696241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Precise thermal control required for vaccines and biologic medicines</a:t>
            </a:r>
            <a:endParaRPr sz="1900" b="0" i="0" u="none" strike="noStrike" cap="none" dirty="0"/>
          </a:p>
        </p:txBody>
      </p:sp>
      <p:sp>
        <p:nvSpPr>
          <p:cNvPr id="99" name="Google Shape;99;p26"/>
          <p:cNvSpPr/>
          <p:nvPr/>
        </p:nvSpPr>
        <p:spPr>
          <a:xfrm>
            <a:off x="9964404" y="2222841"/>
            <a:ext cx="4095036" cy="81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400"/>
              <a:buFont typeface="Spline Sans"/>
              <a:buNone/>
            </a:pPr>
            <a:r>
              <a:rPr lang="en-US" sz="6400" b="1" i="0" u="none" strike="noStrike" cap="none" dirty="0">
                <a:solidFill>
                  <a:srgbClr val="C00000"/>
                </a:solidFill>
                <a:latin typeface="Spline Sans"/>
                <a:ea typeface="Spline Sans"/>
                <a:cs typeface="Spline Sans"/>
                <a:sym typeface="Spline Sans"/>
              </a:rPr>
              <a:t>2B+</a:t>
            </a:r>
            <a:endParaRPr sz="6400" b="0" i="0" u="none" strike="noStrike" cap="none" dirty="0">
              <a:solidFill>
                <a:srgbClr val="C00000"/>
              </a:solidFill>
            </a:endParaRPr>
          </a:p>
        </p:txBody>
      </p:sp>
      <p:sp>
        <p:nvSpPr>
          <p:cNvPr id="100" name="Google Shape;100;p26"/>
          <p:cNvSpPr/>
          <p:nvPr/>
        </p:nvSpPr>
        <p:spPr>
          <a:xfrm>
            <a:off x="10547647" y="3146108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sng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Patients at Risk</a:t>
            </a:r>
            <a:endParaRPr sz="2150" b="0" i="0" u="sng" strike="noStrike" cap="none" dirty="0"/>
          </a:p>
        </p:txBody>
      </p:sp>
      <p:sp>
        <p:nvSpPr>
          <p:cNvPr id="101" name="Google Shape;101;p26"/>
          <p:cNvSpPr/>
          <p:nvPr/>
        </p:nvSpPr>
        <p:spPr>
          <a:xfrm>
            <a:off x="10272745" y="3485942"/>
            <a:ext cx="3419118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Global population relying on temperature-sensitive medicines</a:t>
            </a:r>
            <a:endParaRPr sz="1900" b="0" i="0" u="none" strike="noStrike" cap="non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047431-546B-7388-EAEC-FB6845D79BB6}"/>
              </a:ext>
            </a:extLst>
          </p:cNvPr>
          <p:cNvSpPr txBox="1"/>
          <p:nvPr/>
        </p:nvSpPr>
        <p:spPr>
          <a:xfrm>
            <a:off x="721314" y="6389076"/>
            <a:ext cx="1318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ptos Display" panose="020B0004020202020204" pitchFamily="34" charset="0"/>
              </a:rPr>
              <a:t>“Every year, billions of life-saving medicines travel across the globe. When cooling systems fail, these shipments are silently destroyed, leading to medicine shortages and, most tragically, putting millions of patient lives at risk.”</a:t>
            </a:r>
            <a:endParaRPr lang="en-IN" sz="2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/>
          <p:nvPr/>
        </p:nvSpPr>
        <p:spPr>
          <a:xfrm>
            <a:off x="864037" y="1565910"/>
            <a:ext cx="657963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Why Current Systems Fail</a:t>
            </a:r>
            <a:endParaRPr sz="4300" b="0" i="0" u="none" strike="noStrike" cap="none" dirty="0"/>
          </a:p>
        </p:txBody>
      </p:sp>
      <p:sp>
        <p:nvSpPr>
          <p:cNvPr id="121" name="Google Shape;121;p28"/>
          <p:cNvSpPr/>
          <p:nvPr/>
        </p:nvSpPr>
        <p:spPr>
          <a:xfrm>
            <a:off x="864037" y="2745462"/>
            <a:ext cx="6327696" cy="1835706"/>
          </a:xfrm>
          <a:prstGeom prst="roundRect">
            <a:avLst>
              <a:gd name="adj" fmla="val 7970"/>
            </a:avLst>
          </a:prstGeom>
          <a:solidFill>
            <a:srgbClr val="0A081B">
              <a:alpha val="74901"/>
            </a:srgbClr>
          </a:solidFill>
          <a:ln w="3047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8"/>
          <p:cNvSpPr/>
          <p:nvPr/>
        </p:nvSpPr>
        <p:spPr>
          <a:xfrm>
            <a:off x="833557" y="2745462"/>
            <a:ext cx="121920" cy="1835706"/>
          </a:xfrm>
          <a:prstGeom prst="roundRect">
            <a:avLst>
              <a:gd name="adj" fmla="val 303750"/>
            </a:avLst>
          </a:prstGeom>
          <a:solidFill>
            <a:srgbClr val="16F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8"/>
          <p:cNvSpPr/>
          <p:nvPr/>
        </p:nvSpPr>
        <p:spPr>
          <a:xfrm>
            <a:off x="1232773" y="3022759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Slow Monitoring</a:t>
            </a:r>
            <a:endParaRPr sz="2150" b="0" i="0" u="none" strike="noStrike" cap="none"/>
          </a:p>
        </p:txBody>
      </p:sp>
      <p:sp>
        <p:nvSpPr>
          <p:cNvPr id="124" name="Google Shape;124;p28"/>
          <p:cNvSpPr/>
          <p:nvPr/>
        </p:nvSpPr>
        <p:spPr>
          <a:xfrm>
            <a:off x="1232773" y="3513773"/>
            <a:ext cx="5681662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Data collection intervals are too long—temperature spikes go undetected until damage occurs</a:t>
            </a:r>
            <a:endParaRPr sz="1900" b="0" i="0" u="none" strike="noStrike" cap="none"/>
          </a:p>
        </p:txBody>
      </p:sp>
      <p:sp>
        <p:nvSpPr>
          <p:cNvPr id="125" name="Google Shape;125;p28"/>
          <p:cNvSpPr/>
          <p:nvPr/>
        </p:nvSpPr>
        <p:spPr>
          <a:xfrm>
            <a:off x="7438549" y="2745462"/>
            <a:ext cx="6327815" cy="1835706"/>
          </a:xfrm>
          <a:prstGeom prst="roundRect">
            <a:avLst>
              <a:gd name="adj" fmla="val 7970"/>
            </a:avLst>
          </a:prstGeom>
          <a:solidFill>
            <a:srgbClr val="0A081B">
              <a:alpha val="74901"/>
            </a:srgbClr>
          </a:solidFill>
          <a:ln w="30475" cap="flat" cmpd="sng">
            <a:solidFill>
              <a:srgbClr val="29D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7408069" y="2745462"/>
            <a:ext cx="121920" cy="1835706"/>
          </a:xfrm>
          <a:prstGeom prst="roundRect">
            <a:avLst>
              <a:gd name="adj" fmla="val 303750"/>
            </a:avLst>
          </a:prstGeom>
          <a:solidFill>
            <a:srgbClr val="29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8"/>
          <p:cNvSpPr/>
          <p:nvPr/>
        </p:nvSpPr>
        <p:spPr>
          <a:xfrm>
            <a:off x="7807285" y="3022759"/>
            <a:ext cx="350055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Manual Response Required</a:t>
            </a:r>
            <a:endParaRPr sz="2150" b="0" i="0" u="none" strike="noStrike" cap="none"/>
          </a:p>
        </p:txBody>
      </p:sp>
      <p:sp>
        <p:nvSpPr>
          <p:cNvPr id="128" name="Google Shape;128;p28"/>
          <p:cNvSpPr/>
          <p:nvPr/>
        </p:nvSpPr>
        <p:spPr>
          <a:xfrm>
            <a:off x="7807285" y="3513773"/>
            <a:ext cx="5681782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Alerts demand human intervention, causing delays when every minute counts</a:t>
            </a:r>
            <a:endParaRPr sz="1900" b="0" i="0" u="none" strike="noStrike" cap="none"/>
          </a:p>
        </p:txBody>
      </p:sp>
      <p:sp>
        <p:nvSpPr>
          <p:cNvPr id="129" name="Google Shape;129;p28"/>
          <p:cNvSpPr/>
          <p:nvPr/>
        </p:nvSpPr>
        <p:spPr>
          <a:xfrm>
            <a:off x="864037" y="4827984"/>
            <a:ext cx="6327696" cy="1835706"/>
          </a:xfrm>
          <a:prstGeom prst="roundRect">
            <a:avLst>
              <a:gd name="adj" fmla="val 7970"/>
            </a:avLst>
          </a:prstGeom>
          <a:solidFill>
            <a:srgbClr val="0A081B">
              <a:alpha val="74901"/>
            </a:srgbClr>
          </a:solidFill>
          <a:ln w="304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8"/>
          <p:cNvSpPr/>
          <p:nvPr/>
        </p:nvSpPr>
        <p:spPr>
          <a:xfrm>
            <a:off x="833557" y="4827984"/>
            <a:ext cx="121920" cy="1835706"/>
          </a:xfrm>
          <a:prstGeom prst="roundRect">
            <a:avLst>
              <a:gd name="adj" fmla="val 303750"/>
            </a:avLst>
          </a:prstGeom>
          <a:solidFill>
            <a:srgbClr val="37A7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1232773" y="5105281"/>
            <a:ext cx="2969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Data Manipulation Risk</a:t>
            </a:r>
            <a:endParaRPr sz="2150" b="0" i="0" u="none" strike="noStrike" cap="none"/>
          </a:p>
        </p:txBody>
      </p:sp>
      <p:sp>
        <p:nvSpPr>
          <p:cNvPr id="132" name="Google Shape;132;p28"/>
          <p:cNvSpPr/>
          <p:nvPr/>
        </p:nvSpPr>
        <p:spPr>
          <a:xfrm>
            <a:off x="1232773" y="5596295"/>
            <a:ext cx="5681662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Temperature records can be altered, compromising regulatory compliance and trust</a:t>
            </a:r>
            <a:endParaRPr sz="1900" b="0" i="0" u="none" strike="noStrike" cap="none"/>
          </a:p>
        </p:txBody>
      </p:sp>
      <p:sp>
        <p:nvSpPr>
          <p:cNvPr id="133" name="Google Shape;133;p28"/>
          <p:cNvSpPr/>
          <p:nvPr/>
        </p:nvSpPr>
        <p:spPr>
          <a:xfrm>
            <a:off x="7438549" y="4827984"/>
            <a:ext cx="6327815" cy="1835706"/>
          </a:xfrm>
          <a:prstGeom prst="roundRect">
            <a:avLst>
              <a:gd name="adj" fmla="val 7970"/>
            </a:avLst>
          </a:prstGeom>
          <a:solidFill>
            <a:srgbClr val="0A081B">
              <a:alpha val="74901"/>
            </a:srgbClr>
          </a:solidFill>
          <a:ln w="30475" cap="flat" cmpd="sng">
            <a:solidFill>
              <a:srgbClr val="0912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7408069" y="4827984"/>
            <a:ext cx="121920" cy="1835706"/>
          </a:xfrm>
          <a:prstGeom prst="roundRect">
            <a:avLst>
              <a:gd name="adj" fmla="val 303750"/>
            </a:avLst>
          </a:prstGeom>
          <a:solidFill>
            <a:srgbClr val="091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8"/>
          <p:cNvSpPr/>
          <p:nvPr/>
        </p:nvSpPr>
        <p:spPr>
          <a:xfrm>
            <a:off x="7807285" y="5105281"/>
            <a:ext cx="38261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Reactive Instead of Predictive</a:t>
            </a:r>
            <a:endParaRPr sz="2150" b="0" i="0" u="none" strike="noStrike" cap="none"/>
          </a:p>
        </p:txBody>
      </p:sp>
      <p:sp>
        <p:nvSpPr>
          <p:cNvPr id="136" name="Google Shape;136;p28"/>
          <p:cNvSpPr/>
          <p:nvPr/>
        </p:nvSpPr>
        <p:spPr>
          <a:xfrm>
            <a:off x="7807285" y="5596295"/>
            <a:ext cx="5681782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Systems respond after failure rather than preventing it through intelligent forecasting</a:t>
            </a:r>
            <a:endParaRPr sz="19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/>
          <p:nvPr/>
        </p:nvSpPr>
        <p:spPr>
          <a:xfrm>
            <a:off x="905708" y="777359"/>
            <a:ext cx="811285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sng" strike="noStrike" cap="none" spc="300" dirty="0">
                <a:solidFill>
                  <a:srgbClr val="4BFF54"/>
                </a:solidFill>
                <a:highlight>
                  <a:srgbClr val="000000"/>
                </a:highlight>
                <a:latin typeface="Spline Sans"/>
                <a:ea typeface="Spline Sans"/>
                <a:cs typeface="Spline Sans"/>
                <a:sym typeface="Spline Sans"/>
              </a:rPr>
              <a:t>Introducing</a:t>
            </a:r>
            <a:r>
              <a:rPr lang="en-US" sz="4300" b="1" i="0" u="sng" strike="noStrike" cap="none" dirty="0">
                <a:solidFill>
                  <a:srgbClr val="4BFF54"/>
                </a:solidFill>
                <a:highlight>
                  <a:srgbClr val="000000"/>
                </a:highlight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lang="en-US" sz="4300" b="1" u="sng" dirty="0" err="1">
                <a:solidFill>
                  <a:srgbClr val="4BFF54"/>
                </a:solidFill>
                <a:highlight>
                  <a:srgbClr val="000000"/>
                </a:highlight>
                <a:latin typeface="Spline Sans"/>
                <a:ea typeface="Spline Sans"/>
                <a:cs typeface="Spline Sans"/>
                <a:sym typeface="Spline Sans"/>
              </a:rPr>
              <a:t>VitalChain</a:t>
            </a:r>
            <a:r>
              <a:rPr lang="en-US" sz="4300" b="1" i="0" u="sng" strike="noStrike" cap="none" dirty="0">
                <a:solidFill>
                  <a:srgbClr val="4BFF54"/>
                </a:solidFill>
                <a:highlight>
                  <a:srgbClr val="000000"/>
                </a:highlight>
                <a:latin typeface="Spline Sans"/>
                <a:ea typeface="Spline Sans"/>
                <a:cs typeface="Spline Sans"/>
                <a:sym typeface="Spline Sans"/>
              </a:rPr>
              <a:t>-AI</a:t>
            </a:r>
            <a:endParaRPr sz="4300" b="0" i="0" u="sng" strike="noStrike" cap="none" dirty="0">
              <a:solidFill>
                <a:srgbClr val="4BFF54"/>
              </a:solidFill>
              <a:highlight>
                <a:srgbClr val="000000"/>
              </a:highlight>
            </a:endParaRPr>
          </a:p>
        </p:txBody>
      </p:sp>
      <p:sp>
        <p:nvSpPr>
          <p:cNvPr id="143" name="Google Shape;143;p29"/>
          <p:cNvSpPr/>
          <p:nvPr/>
        </p:nvSpPr>
        <p:spPr>
          <a:xfrm>
            <a:off x="864037" y="1611273"/>
            <a:ext cx="12902327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An intelligent pharmaceutical logistics platform combining IoT sensors, artificial intelligence, blockchain, and smart contracts to autonomously protect temperature-sensitive medicines.</a:t>
            </a:r>
            <a:endParaRPr sz="1900" b="0" i="0" u="none" strike="noStrike" cap="none" dirty="0"/>
          </a:p>
        </p:txBody>
      </p:sp>
      <p:pic>
        <p:nvPicPr>
          <p:cNvPr id="144" name="Google Shape;144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57" y="3241544"/>
            <a:ext cx="740569" cy="740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9"/>
          <p:cNvSpPr/>
          <p:nvPr/>
        </p:nvSpPr>
        <p:spPr>
          <a:xfrm>
            <a:off x="1604606" y="3346594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IoT Sensors</a:t>
            </a:r>
            <a:endParaRPr sz="2150" b="0" i="0" u="none" strike="noStrike" cap="none" dirty="0"/>
          </a:p>
        </p:txBody>
      </p:sp>
      <p:sp>
        <p:nvSpPr>
          <p:cNvPr id="146" name="Google Shape;146;p29"/>
          <p:cNvSpPr/>
          <p:nvPr/>
        </p:nvSpPr>
        <p:spPr>
          <a:xfrm>
            <a:off x="1604606" y="3685698"/>
            <a:ext cx="5247680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Real-time monitoring of temperature, humidity, and location</a:t>
            </a:r>
            <a:endParaRPr sz="1900" b="0" i="0" u="none" strike="noStrike" cap="none" dirty="0"/>
          </a:p>
        </p:txBody>
      </p:sp>
      <p:pic>
        <p:nvPicPr>
          <p:cNvPr id="147" name="Google Shape;147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77994" y="3219733"/>
            <a:ext cx="740569" cy="740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9"/>
          <p:cNvSpPr/>
          <p:nvPr/>
        </p:nvSpPr>
        <p:spPr>
          <a:xfrm>
            <a:off x="9082771" y="3346594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AI Prediction Engine</a:t>
            </a:r>
            <a:endParaRPr sz="2150" b="0" i="0" u="none" strike="noStrike" cap="none" dirty="0"/>
          </a:p>
        </p:txBody>
      </p:sp>
      <p:sp>
        <p:nvSpPr>
          <p:cNvPr id="149" name="Google Shape;149;p29"/>
          <p:cNvSpPr/>
          <p:nvPr/>
        </p:nvSpPr>
        <p:spPr>
          <a:xfrm>
            <a:off x="9035879" y="3685337"/>
            <a:ext cx="5247680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Forecasts equipment failure before temperature excursions occur</a:t>
            </a:r>
            <a:endParaRPr sz="1900" b="0" i="0" u="none" strike="noStrike" cap="none" dirty="0"/>
          </a:p>
        </p:txBody>
      </p:sp>
      <p:pic>
        <p:nvPicPr>
          <p:cNvPr id="150" name="Google Shape;150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732" y="5161478"/>
            <a:ext cx="740569" cy="74056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/>
          <p:nvPr/>
        </p:nvSpPr>
        <p:spPr>
          <a:xfrm>
            <a:off x="1604606" y="5336867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Blockchain Ledger</a:t>
            </a:r>
            <a:endParaRPr sz="2150" b="0" i="0" u="none" strike="noStrike" cap="none" dirty="0"/>
          </a:p>
        </p:txBody>
      </p:sp>
      <p:sp>
        <p:nvSpPr>
          <p:cNvPr id="152" name="Google Shape;152;p29"/>
          <p:cNvSpPr/>
          <p:nvPr/>
        </p:nvSpPr>
        <p:spPr>
          <a:xfrm>
            <a:off x="1604606" y="5712509"/>
            <a:ext cx="5247680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Immutable records ensuring data integrity and compliance</a:t>
            </a:r>
            <a:endParaRPr sz="1900" b="0" i="0" u="none" strike="noStrike" cap="none" dirty="0"/>
          </a:p>
        </p:txBody>
      </p:sp>
      <p:pic>
        <p:nvPicPr>
          <p:cNvPr id="153" name="Google Shape;153;p2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39907" y="5244011"/>
            <a:ext cx="584249" cy="598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/>
          <p:nvPr/>
        </p:nvSpPr>
        <p:spPr>
          <a:xfrm>
            <a:off x="9082771" y="533686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 dirty="0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Smart Contracts</a:t>
            </a:r>
            <a:endParaRPr sz="2150" b="0" i="0" u="none" strike="noStrike" cap="none" dirty="0"/>
          </a:p>
        </p:txBody>
      </p:sp>
      <p:sp>
        <p:nvSpPr>
          <p:cNvPr id="155" name="Google Shape;155;p29"/>
          <p:cNvSpPr/>
          <p:nvPr/>
        </p:nvSpPr>
        <p:spPr>
          <a:xfrm>
            <a:off x="9035879" y="5763229"/>
            <a:ext cx="5247680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Autonomous rerouting to cold storage when risks are detected</a:t>
            </a:r>
            <a:endParaRPr sz="1900" b="0" i="0" u="none" strike="noStrike" cap="non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/>
          <p:nvPr/>
        </p:nvSpPr>
        <p:spPr>
          <a:xfrm>
            <a:off x="864036" y="960239"/>
            <a:ext cx="85847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sng" strike="noStrike" cap="none" dirty="0">
                <a:solidFill>
                  <a:schemeClr val="bg1"/>
                </a:solidFill>
                <a:latin typeface="Spline Sans"/>
                <a:ea typeface="Spline Sans"/>
                <a:cs typeface="Spline Sans"/>
                <a:sym typeface="Spline Sans"/>
              </a:rPr>
              <a:t>How The System Works</a:t>
            </a:r>
            <a:endParaRPr sz="4300" b="0" i="0" u="sng" strike="noStrike" cap="none" dirty="0">
              <a:solidFill>
                <a:schemeClr val="bg1"/>
              </a:solidFill>
            </a:endParaRPr>
          </a:p>
        </p:txBody>
      </p:sp>
      <p:pic>
        <p:nvPicPr>
          <p:cNvPr id="162" name="Google Shape;162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037" y="2139791"/>
            <a:ext cx="6451163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/>
          <p:nvPr/>
        </p:nvSpPr>
        <p:spPr>
          <a:xfrm>
            <a:off x="1110853" y="3374112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IoT Monitoring</a:t>
            </a:r>
            <a:endParaRPr sz="2150" b="0" i="0" u="none" strike="noStrike" cap="none"/>
          </a:p>
        </p:txBody>
      </p:sp>
      <p:sp>
        <p:nvSpPr>
          <p:cNvPr id="164" name="Google Shape;164;p30"/>
          <p:cNvSpPr/>
          <p:nvPr/>
        </p:nvSpPr>
        <p:spPr>
          <a:xfrm>
            <a:off x="1110853" y="3865126"/>
            <a:ext cx="5957530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Sensors track temperature, humidity, and location every 10 minutes</a:t>
            </a:r>
            <a:endParaRPr sz="1900" b="0" i="0" u="none" strike="noStrike" cap="none"/>
          </a:p>
        </p:txBody>
      </p:sp>
      <p:pic>
        <p:nvPicPr>
          <p:cNvPr id="165" name="Google Shape;165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39791"/>
            <a:ext cx="6451163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/>
          <p:nvPr/>
        </p:nvSpPr>
        <p:spPr>
          <a:xfrm>
            <a:off x="7562017" y="3374112"/>
            <a:ext cx="281630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Blockchain Recording</a:t>
            </a:r>
            <a:endParaRPr sz="2150" b="0" i="0" u="none" strike="noStrike" cap="none"/>
          </a:p>
        </p:txBody>
      </p:sp>
      <p:sp>
        <p:nvSpPr>
          <p:cNvPr id="167" name="Google Shape;167;p30"/>
          <p:cNvSpPr/>
          <p:nvPr/>
        </p:nvSpPr>
        <p:spPr>
          <a:xfrm>
            <a:off x="7562017" y="3865126"/>
            <a:ext cx="5957530" cy="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Data securely recorded on distributed ledger</a:t>
            </a:r>
            <a:endParaRPr sz="1900" b="0" i="0" u="none" strike="noStrike" cap="none"/>
          </a:p>
        </p:txBody>
      </p:sp>
      <p:pic>
        <p:nvPicPr>
          <p:cNvPr id="168" name="Google Shape;168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037" y="4902041"/>
            <a:ext cx="6451163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/>
          <p:nvPr/>
        </p:nvSpPr>
        <p:spPr>
          <a:xfrm>
            <a:off x="1110853" y="6136362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AI Analysis</a:t>
            </a:r>
            <a:endParaRPr sz="2150" b="0" i="0" u="none" strike="noStrike" cap="none"/>
          </a:p>
        </p:txBody>
      </p:sp>
      <p:sp>
        <p:nvSpPr>
          <p:cNvPr id="170" name="Google Shape;170;p30"/>
          <p:cNvSpPr/>
          <p:nvPr/>
        </p:nvSpPr>
        <p:spPr>
          <a:xfrm>
            <a:off x="1110853" y="6627376"/>
            <a:ext cx="5957530" cy="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Patterns analysed and equipment failure predicted</a:t>
            </a:r>
            <a:endParaRPr sz="1900" b="0" i="0" u="none" strike="noStrike" cap="none"/>
          </a:p>
        </p:txBody>
      </p:sp>
      <p:pic>
        <p:nvPicPr>
          <p:cNvPr id="171" name="Google Shape;171;p3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3489" y="4902041"/>
            <a:ext cx="6451163" cy="98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/>
          <p:nvPr/>
        </p:nvSpPr>
        <p:spPr>
          <a:xfrm>
            <a:off x="7562017" y="6136362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Autonomous Action</a:t>
            </a:r>
            <a:endParaRPr sz="2150" b="0" i="0" u="none" strike="noStrike" cap="none"/>
          </a:p>
        </p:txBody>
      </p:sp>
      <p:sp>
        <p:nvSpPr>
          <p:cNvPr id="173" name="Google Shape;173;p30"/>
          <p:cNvSpPr/>
          <p:nvPr/>
        </p:nvSpPr>
        <p:spPr>
          <a:xfrm>
            <a:off x="7562017" y="6627376"/>
            <a:ext cx="5957530" cy="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Smart contracts reroute shipments to safe storage</a:t>
            </a:r>
            <a:endParaRPr sz="190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/>
          <p:nvPr/>
        </p:nvSpPr>
        <p:spPr>
          <a:xfrm>
            <a:off x="864037" y="893683"/>
            <a:ext cx="744485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Self-Protecting Supply Chain</a:t>
            </a:r>
            <a:endParaRPr sz="4300" b="0" i="0" u="none" strike="noStrike" cap="none"/>
          </a:p>
        </p:txBody>
      </p:sp>
      <p:sp>
        <p:nvSpPr>
          <p:cNvPr id="210" name="Google Shape;210;p32"/>
          <p:cNvSpPr/>
          <p:nvPr/>
        </p:nvSpPr>
        <p:spPr>
          <a:xfrm>
            <a:off x="864037" y="2196584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550"/>
              <a:buFont typeface="Spline Sans"/>
              <a:buNone/>
            </a:pPr>
            <a:r>
              <a:rPr lang="en-US" sz="2550" b="1" i="0" u="none" strike="noStrike" cap="none" dirty="0">
                <a:solidFill>
                  <a:srgbClr val="00B050"/>
                </a:solidFill>
                <a:latin typeface="Spline Sans"/>
                <a:ea typeface="Spline Sans"/>
                <a:cs typeface="Spline Sans"/>
                <a:sym typeface="Spline Sans"/>
              </a:rPr>
              <a:t>The WOW Feature</a:t>
            </a:r>
            <a:endParaRPr sz="2550" b="0" i="0" u="none" strike="noStrike" cap="none" dirty="0">
              <a:solidFill>
                <a:srgbClr val="00B050"/>
              </a:solidFill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864037" y="2854881"/>
            <a:ext cx="4124325" cy="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When AI predicts cooling failure:</a:t>
            </a:r>
            <a:endParaRPr sz="1900" b="0" i="0" u="none" strike="noStrike" cap="none"/>
          </a:p>
        </p:txBody>
      </p:sp>
      <p:sp>
        <p:nvSpPr>
          <p:cNvPr id="212" name="Google Shape;212;p32"/>
          <p:cNvSpPr/>
          <p:nvPr/>
        </p:nvSpPr>
        <p:spPr>
          <a:xfrm>
            <a:off x="864037" y="3472101"/>
            <a:ext cx="4124325" cy="302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Smart contract activates automatically</a:t>
            </a:r>
            <a:endParaRPr sz="1900" b="0" i="0" u="none" strike="noStrike" cap="none"/>
          </a:p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System identifies nearest cold storage facility</a:t>
            </a:r>
            <a:endParaRPr sz="1900" b="0" i="0" u="none" strike="noStrike" cap="none"/>
          </a:p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Driver receives new route instantly</a:t>
            </a:r>
            <a:endParaRPr sz="1900" b="0" i="0" u="none" strike="noStrike" cap="none"/>
          </a:p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Shipment saved before damage occurs</a:t>
            </a:r>
            <a:endParaRPr sz="1900" b="0" i="0" u="none" strike="noStrike" cap="none"/>
          </a:p>
        </p:txBody>
      </p:sp>
      <p:sp>
        <p:nvSpPr>
          <p:cNvPr id="213" name="Google Shape;213;p32"/>
          <p:cNvSpPr/>
          <p:nvPr/>
        </p:nvSpPr>
        <p:spPr>
          <a:xfrm>
            <a:off x="864037" y="6718578"/>
            <a:ext cx="4124325" cy="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84482D"/>
              </a:buClr>
              <a:buSzPts val="1900"/>
              <a:buFont typeface="Barlow"/>
              <a:buNone/>
            </a:pPr>
            <a:r>
              <a:rPr lang="en-US" sz="1900" b="1" i="0" u="none" strike="noStrike" cap="none">
                <a:solidFill>
                  <a:srgbClr val="84482D"/>
                </a:solidFill>
                <a:latin typeface="Barlow"/>
                <a:ea typeface="Barlow"/>
                <a:cs typeface="Barlow"/>
                <a:sym typeface="Barlow"/>
              </a:rPr>
              <a:t>No manual intervention required</a:t>
            </a:r>
            <a:endParaRPr sz="1900" b="0" i="0" u="none" strike="noStrike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C5C4B3-52FD-EB9D-851E-F7365F3B8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290" y="2079353"/>
            <a:ext cx="7981073" cy="53735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/>
          <p:nvPr/>
        </p:nvSpPr>
        <p:spPr>
          <a:xfrm>
            <a:off x="6010870" y="1050250"/>
            <a:ext cx="5169575" cy="41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600"/>
              <a:buFont typeface="Spline Sans"/>
              <a:buNone/>
            </a:pPr>
            <a:r>
              <a:rPr lang="en-US" sz="2600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Real-Time Monitoring Dashboard</a:t>
            </a:r>
            <a:endParaRPr sz="2600" b="0" i="0" u="none" strike="noStrike" cap="none"/>
          </a:p>
        </p:txBody>
      </p:sp>
      <p:sp>
        <p:nvSpPr>
          <p:cNvPr id="222" name="Google Shape;222;p33"/>
          <p:cNvSpPr/>
          <p:nvPr/>
        </p:nvSpPr>
        <p:spPr>
          <a:xfrm>
            <a:off x="6010870" y="1602938"/>
            <a:ext cx="8095059" cy="1325880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3"/>
          <p:cNvSpPr/>
          <p:nvPr/>
        </p:nvSpPr>
        <p:spPr>
          <a:xfrm>
            <a:off x="6175891" y="1767959"/>
            <a:ext cx="449580" cy="449580"/>
          </a:xfrm>
          <a:prstGeom prst="roundRect">
            <a:avLst>
              <a:gd name="adj" fmla="val 20336949"/>
            </a:avLst>
          </a:prstGeom>
          <a:solidFill>
            <a:srgbClr val="16F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478" y="1891546"/>
            <a:ext cx="202287" cy="20228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/>
          <p:nvPr/>
        </p:nvSpPr>
        <p:spPr>
          <a:xfrm>
            <a:off x="6175891" y="2308503"/>
            <a:ext cx="1822490" cy="208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lang="en-US" sz="13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Live Shipment Tracking</a:t>
            </a:r>
            <a:endParaRPr sz="1300" b="0" i="0" u="none" strike="noStrike" cap="none"/>
          </a:p>
        </p:txBody>
      </p:sp>
      <p:sp>
        <p:nvSpPr>
          <p:cNvPr id="226" name="Google Shape;226;p33"/>
          <p:cNvSpPr/>
          <p:nvPr/>
        </p:nvSpPr>
        <p:spPr>
          <a:xfrm>
            <a:off x="6175891" y="2571155"/>
            <a:ext cx="7765018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lang="en-US" sz="115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Real-time location and route visualization</a:t>
            </a:r>
            <a:endParaRPr sz="1150" b="0" i="0" u="none" strike="noStrike" cap="none"/>
          </a:p>
        </p:txBody>
      </p:sp>
      <p:sp>
        <p:nvSpPr>
          <p:cNvPr id="227" name="Google Shape;227;p33"/>
          <p:cNvSpPr/>
          <p:nvPr/>
        </p:nvSpPr>
        <p:spPr>
          <a:xfrm>
            <a:off x="6010870" y="3019782"/>
            <a:ext cx="8095059" cy="1325880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29D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3"/>
          <p:cNvSpPr/>
          <p:nvPr/>
        </p:nvSpPr>
        <p:spPr>
          <a:xfrm>
            <a:off x="6175891" y="3184803"/>
            <a:ext cx="449580" cy="449580"/>
          </a:xfrm>
          <a:prstGeom prst="roundRect">
            <a:avLst>
              <a:gd name="adj" fmla="val 20336949"/>
            </a:avLst>
          </a:prstGeom>
          <a:solidFill>
            <a:srgbClr val="29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" name="Google Shape;229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478" y="3308390"/>
            <a:ext cx="202287" cy="202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/>
          <p:nvPr/>
        </p:nvSpPr>
        <p:spPr>
          <a:xfrm>
            <a:off x="6175891" y="3725347"/>
            <a:ext cx="1665327" cy="208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lang="en-US" sz="13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Temperature Graphs</a:t>
            </a:r>
            <a:endParaRPr sz="1300" b="0" i="0" u="none" strike="noStrike" cap="none"/>
          </a:p>
        </p:txBody>
      </p:sp>
      <p:sp>
        <p:nvSpPr>
          <p:cNvPr id="231" name="Google Shape;231;p33"/>
          <p:cNvSpPr/>
          <p:nvPr/>
        </p:nvSpPr>
        <p:spPr>
          <a:xfrm>
            <a:off x="6175891" y="3987998"/>
            <a:ext cx="7765018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lang="en-US" sz="115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Continuous thermal monitoring with historical data</a:t>
            </a:r>
            <a:endParaRPr sz="1150" b="0" i="0" u="none" strike="noStrike" cap="none"/>
          </a:p>
        </p:txBody>
      </p:sp>
      <p:sp>
        <p:nvSpPr>
          <p:cNvPr id="232" name="Google Shape;232;p33"/>
          <p:cNvSpPr/>
          <p:nvPr/>
        </p:nvSpPr>
        <p:spPr>
          <a:xfrm>
            <a:off x="6010870" y="4436626"/>
            <a:ext cx="8095059" cy="1325880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/>
          <p:cNvSpPr/>
          <p:nvPr/>
        </p:nvSpPr>
        <p:spPr>
          <a:xfrm>
            <a:off x="6175891" y="4601647"/>
            <a:ext cx="449580" cy="449580"/>
          </a:xfrm>
          <a:prstGeom prst="roundRect">
            <a:avLst>
              <a:gd name="adj" fmla="val 20336949"/>
            </a:avLst>
          </a:prstGeom>
          <a:solidFill>
            <a:srgbClr val="37A7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" name="Google Shape;234;p3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9478" y="4725233"/>
            <a:ext cx="202287" cy="202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6175891" y="5142190"/>
            <a:ext cx="1665327" cy="208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lang="en-US" sz="13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AI Risk Alerts</a:t>
            </a:r>
            <a:endParaRPr sz="1300" b="0" i="0" u="none" strike="noStrike" cap="none"/>
          </a:p>
        </p:txBody>
      </p:sp>
      <p:sp>
        <p:nvSpPr>
          <p:cNvPr id="236" name="Google Shape;236;p33"/>
          <p:cNvSpPr/>
          <p:nvPr/>
        </p:nvSpPr>
        <p:spPr>
          <a:xfrm>
            <a:off x="6175891" y="5404842"/>
            <a:ext cx="7765018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lang="en-US" sz="115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Predictive notifications of potential failures</a:t>
            </a:r>
            <a:endParaRPr sz="1150" b="0" i="0" u="none" strike="noStrike" cap="none"/>
          </a:p>
        </p:txBody>
      </p:sp>
      <p:sp>
        <p:nvSpPr>
          <p:cNvPr id="237" name="Google Shape;237;p33"/>
          <p:cNvSpPr/>
          <p:nvPr/>
        </p:nvSpPr>
        <p:spPr>
          <a:xfrm>
            <a:off x="6010870" y="5853470"/>
            <a:ext cx="8095059" cy="1325880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0912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6175891" y="6018490"/>
            <a:ext cx="449580" cy="449580"/>
          </a:xfrm>
          <a:prstGeom prst="roundRect">
            <a:avLst>
              <a:gd name="adj" fmla="val 20336949"/>
            </a:avLst>
          </a:prstGeom>
          <a:solidFill>
            <a:srgbClr val="091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3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9478" y="6142077"/>
            <a:ext cx="202287" cy="2022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/>
          <p:nvPr/>
        </p:nvSpPr>
        <p:spPr>
          <a:xfrm>
            <a:off x="6175891" y="6559034"/>
            <a:ext cx="1665327" cy="208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lang="en-US" sz="13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Verified Records</a:t>
            </a:r>
            <a:endParaRPr sz="1300" b="0" i="0" u="none" strike="noStrike" cap="none"/>
          </a:p>
        </p:txBody>
      </p:sp>
      <p:sp>
        <p:nvSpPr>
          <p:cNvPr id="241" name="Google Shape;241;p33"/>
          <p:cNvSpPr/>
          <p:nvPr/>
        </p:nvSpPr>
        <p:spPr>
          <a:xfrm>
            <a:off x="6175891" y="6821686"/>
            <a:ext cx="7765018" cy="19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lang="en-US" sz="115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Blockchain-secured shipment documentation</a:t>
            </a:r>
            <a:endParaRPr sz="1150" b="0" i="0" u="none" strike="noStrike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546C42-3E27-3928-2489-4064C207E4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573934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/>
          <p:nvPr/>
        </p:nvSpPr>
        <p:spPr>
          <a:xfrm>
            <a:off x="864037" y="1267063"/>
            <a:ext cx="754772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Why </a:t>
            </a:r>
            <a:r>
              <a:rPr lang="en-US" sz="4300" b="1" i="0" u="none" strike="noStrike" cap="none" dirty="0">
                <a:solidFill>
                  <a:srgbClr val="4BFF54"/>
                </a:solidFill>
                <a:latin typeface="Spline Sans"/>
                <a:ea typeface="Spline Sans"/>
                <a:cs typeface="Spline Sans"/>
                <a:sym typeface="Spline Sans"/>
              </a:rPr>
              <a:t>VitalChain-AI</a:t>
            </a:r>
            <a:r>
              <a:rPr lang="en-US" sz="430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 Matters</a:t>
            </a:r>
            <a:endParaRPr sz="4300" b="0" i="0" u="none" strike="noStrike" cap="none" dirty="0"/>
          </a:p>
        </p:txBody>
      </p:sp>
      <p:sp>
        <p:nvSpPr>
          <p:cNvPr id="248" name="Google Shape;248;p34"/>
          <p:cNvSpPr/>
          <p:nvPr/>
        </p:nvSpPr>
        <p:spPr>
          <a:xfrm>
            <a:off x="1943814" y="2842379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Prevent Losses</a:t>
            </a:r>
            <a:endParaRPr sz="2150" b="0" i="0" u="none" strike="noStrike" cap="none"/>
          </a:p>
        </p:txBody>
      </p:sp>
      <p:sp>
        <p:nvSpPr>
          <p:cNvPr id="249" name="Google Shape;249;p34"/>
          <p:cNvSpPr/>
          <p:nvPr/>
        </p:nvSpPr>
        <p:spPr>
          <a:xfrm>
            <a:off x="864037" y="3333393"/>
            <a:ext cx="3822978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Save billions in medicine value annually</a:t>
            </a:r>
            <a:endParaRPr sz="1900" b="0" i="0" u="none" strike="noStrike" cap="none"/>
          </a:p>
        </p:txBody>
      </p:sp>
      <p:pic>
        <p:nvPicPr>
          <p:cNvPr id="250" name="Google Shape;250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7299" y="2446615"/>
            <a:ext cx="4515803" cy="4515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2894" y="3402211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/>
          <p:nvPr/>
        </p:nvSpPr>
        <p:spPr>
          <a:xfrm>
            <a:off x="9943386" y="2842379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Patient Safety</a:t>
            </a:r>
            <a:endParaRPr sz="2150" b="0" i="0" u="none" strike="noStrike" cap="none"/>
          </a:p>
        </p:txBody>
      </p:sp>
      <p:sp>
        <p:nvSpPr>
          <p:cNvPr id="253" name="Google Shape;253;p34"/>
          <p:cNvSpPr/>
          <p:nvPr/>
        </p:nvSpPr>
        <p:spPr>
          <a:xfrm>
            <a:off x="9943386" y="3333393"/>
            <a:ext cx="3822978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Ensure medicines reach patients effective</a:t>
            </a:r>
            <a:endParaRPr sz="1900" b="0" i="0" u="none" strike="noStrike" cap="none"/>
          </a:p>
        </p:txBody>
      </p:sp>
      <p:pic>
        <p:nvPicPr>
          <p:cNvPr id="254" name="Google Shape;254;p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5057299" y="2446615"/>
            <a:ext cx="4515803" cy="4515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48055" y="3402211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/>
          <p:nvPr/>
        </p:nvSpPr>
        <p:spPr>
          <a:xfrm>
            <a:off x="9943386" y="5285423"/>
            <a:ext cx="303133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Regulatory Compliance</a:t>
            </a:r>
            <a:endParaRPr sz="2150" b="0" i="0" u="none" strike="noStrike" cap="none"/>
          </a:p>
        </p:txBody>
      </p:sp>
      <p:sp>
        <p:nvSpPr>
          <p:cNvPr id="257" name="Google Shape;257;p34"/>
          <p:cNvSpPr/>
          <p:nvPr/>
        </p:nvSpPr>
        <p:spPr>
          <a:xfrm>
            <a:off x="9943386" y="5776436"/>
            <a:ext cx="3822978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Meet pharmaceutical standards effortlessly</a:t>
            </a:r>
            <a:endParaRPr sz="1900" b="0" i="0" u="none" strike="noStrike" cap="none"/>
          </a:p>
        </p:txBody>
      </p:sp>
      <p:pic>
        <p:nvPicPr>
          <p:cNvPr id="258" name="Google Shape;258;p3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57299" y="2446615"/>
            <a:ext cx="4515803" cy="4515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48055" y="5637371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4"/>
          <p:cNvSpPr/>
          <p:nvPr/>
        </p:nvSpPr>
        <p:spPr>
          <a:xfrm>
            <a:off x="1155621" y="5285423"/>
            <a:ext cx="353139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Supply Chain Transparency</a:t>
            </a:r>
            <a:endParaRPr sz="2150" b="0" i="0" u="none" strike="noStrike" cap="none"/>
          </a:p>
        </p:txBody>
      </p:sp>
      <p:sp>
        <p:nvSpPr>
          <p:cNvPr id="261" name="Google Shape;261;p34"/>
          <p:cNvSpPr/>
          <p:nvPr/>
        </p:nvSpPr>
        <p:spPr>
          <a:xfrm>
            <a:off x="864037" y="5776436"/>
            <a:ext cx="3822978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Complete visibility from manufacturer to patient</a:t>
            </a:r>
            <a:endParaRPr sz="1900" b="0" i="0" u="none" strike="noStrike" cap="none"/>
          </a:p>
        </p:txBody>
      </p:sp>
      <p:pic>
        <p:nvPicPr>
          <p:cNvPr id="263" name="Google Shape;263;p3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12894" y="5637371"/>
            <a:ext cx="369332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58;p34" descr="preencoded.png">
            <a:extLst>
              <a:ext uri="{FF2B5EF4-FFF2-40B4-BE49-F238E27FC236}">
                <a16:creationId xmlns:a16="http://schemas.microsoft.com/office/drawing/2014/main" id="{01ED82C7-EA02-9ED1-F0C5-B1141E3370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6200000">
            <a:off x="5057299" y="2446614"/>
            <a:ext cx="4515803" cy="4515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>
            <a:off x="864037" y="1029534"/>
            <a:ext cx="1180135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lang="en-US" sz="430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Market Opportunity &amp; Competitive Advantage</a:t>
            </a:r>
            <a:endParaRPr sz="4300" b="0" i="0" u="none" strike="noStrike" cap="none" dirty="0"/>
          </a:p>
        </p:txBody>
      </p:sp>
      <p:sp>
        <p:nvSpPr>
          <p:cNvPr id="270" name="Google Shape;270;p35"/>
          <p:cNvSpPr/>
          <p:nvPr/>
        </p:nvSpPr>
        <p:spPr>
          <a:xfrm>
            <a:off x="864037" y="1976616"/>
            <a:ext cx="8202216" cy="54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450"/>
              <a:buFont typeface="Spline Sans"/>
              <a:buNone/>
            </a:pPr>
            <a:r>
              <a:rPr lang="en-US" sz="345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Why </a:t>
            </a:r>
            <a:r>
              <a:rPr lang="en-US" sz="3450" b="1" i="0" u="none" strike="noStrike" cap="none" dirty="0">
                <a:solidFill>
                  <a:srgbClr val="4BFF54"/>
                </a:solidFill>
                <a:latin typeface="Spline Sans"/>
                <a:ea typeface="Spline Sans"/>
                <a:cs typeface="Spline Sans"/>
                <a:sym typeface="Spline Sans"/>
              </a:rPr>
              <a:t>VitalChain-AI</a:t>
            </a:r>
            <a:r>
              <a:rPr lang="en-US" sz="345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 Leads the Industry</a:t>
            </a:r>
            <a:endParaRPr sz="3450" b="0" i="0" u="none" strike="noStrike" cap="none" dirty="0"/>
          </a:p>
        </p:txBody>
      </p:sp>
      <p:sp>
        <p:nvSpPr>
          <p:cNvPr id="271" name="Google Shape;271;p35"/>
          <p:cNvSpPr/>
          <p:nvPr/>
        </p:nvSpPr>
        <p:spPr>
          <a:xfrm>
            <a:off x="864037" y="3334941"/>
            <a:ext cx="382666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550"/>
              <a:buFont typeface="Spline Sans"/>
              <a:buNone/>
            </a:pPr>
            <a:r>
              <a:rPr lang="en-US" sz="2550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Vast Market Opportunity</a:t>
            </a:r>
            <a:endParaRPr sz="2550" b="0" i="0" u="none" strike="noStrike" cap="none"/>
          </a:p>
        </p:txBody>
      </p:sp>
      <p:sp>
        <p:nvSpPr>
          <p:cNvPr id="272" name="Google Shape;272;p35"/>
          <p:cNvSpPr/>
          <p:nvPr/>
        </p:nvSpPr>
        <p:spPr>
          <a:xfrm>
            <a:off x="864037" y="3993237"/>
            <a:ext cx="6150054" cy="1975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global pharmaceutical cold chain market exceeds </a:t>
            </a:r>
            <a:r>
              <a:rPr lang="en-US" sz="1900" b="1" i="0" u="none" strike="noStrike" cap="none" dirty="0">
                <a:solidFill>
                  <a:srgbClr val="4BFF54"/>
                </a:solidFill>
                <a:latin typeface="Barlow"/>
                <a:ea typeface="Barlow"/>
                <a:cs typeface="Barlow"/>
                <a:sym typeface="Barlow"/>
              </a:rPr>
              <a:t>$35 billion annually</a:t>
            </a: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With increasing demand for temperature-sensitive drugs like vaccines and biologics, this critical sector requires advanced solutions to prevent immense losses and ensure patient safety.</a:t>
            </a:r>
            <a:endParaRPr sz="1900" b="0" i="0" u="none" strike="noStrike" cap="none" dirty="0"/>
          </a:p>
        </p:txBody>
      </p:sp>
      <p:sp>
        <p:nvSpPr>
          <p:cNvPr id="273" name="Google Shape;273;p35"/>
          <p:cNvSpPr/>
          <p:nvPr/>
        </p:nvSpPr>
        <p:spPr>
          <a:xfrm>
            <a:off x="7623929" y="3334941"/>
            <a:ext cx="457688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550"/>
              <a:buFont typeface="Spline Sans"/>
              <a:buNone/>
            </a:pPr>
            <a:r>
              <a:rPr lang="en-US" sz="2550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Unmatched Competitive Edge</a:t>
            </a:r>
            <a:endParaRPr sz="2550" b="0" i="0" u="none" strike="noStrike" cap="none"/>
          </a:p>
        </p:txBody>
      </p:sp>
      <p:sp>
        <p:nvSpPr>
          <p:cNvPr id="274" name="Google Shape;274;p35"/>
          <p:cNvSpPr/>
          <p:nvPr/>
        </p:nvSpPr>
        <p:spPr>
          <a:xfrm>
            <a:off x="7623929" y="3993237"/>
            <a:ext cx="6150054" cy="7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lang="en-US" sz="19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ThermoChain AI stands alone as the only comprehensive solution by seamlessly integrating:</a:t>
            </a:r>
            <a:endParaRPr sz="1900" b="0" i="0" u="none" strike="noStrike" cap="none" dirty="0"/>
          </a:p>
        </p:txBody>
      </p:sp>
      <p:sp>
        <p:nvSpPr>
          <p:cNvPr id="275" name="Google Shape;275;p35"/>
          <p:cNvSpPr/>
          <p:nvPr/>
        </p:nvSpPr>
        <p:spPr>
          <a:xfrm>
            <a:off x="7623929" y="5005507"/>
            <a:ext cx="6150054" cy="175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Real-time AI prediction for proactive intervention</a:t>
            </a:r>
            <a:endParaRPr sz="1900" b="0" i="0" u="none" strike="noStrike" cap="none"/>
          </a:p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Immutable blockchain for unparalleled data integrity</a:t>
            </a:r>
            <a:endParaRPr sz="1900" b="0" i="0" u="none" strike="noStrike" cap="none"/>
          </a:p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lang="en-US" sz="1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Autonomous smart contracts for instant, self-correcting actions</a:t>
            </a:r>
            <a:endParaRPr sz="19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"/>
          <p:cNvSpPr/>
          <p:nvPr/>
        </p:nvSpPr>
        <p:spPr>
          <a:xfrm>
            <a:off x="1451134" y="870347"/>
            <a:ext cx="9450741" cy="53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8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350"/>
              <a:buFont typeface="Spline Sans"/>
              <a:buNone/>
            </a:pPr>
            <a:r>
              <a:rPr lang="en-US" sz="335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Use Cases &amp; Real-World Applications</a:t>
            </a:r>
            <a:endParaRPr sz="3350" b="0" i="0" u="none" strike="noStrike" cap="none" dirty="0"/>
          </a:p>
        </p:txBody>
      </p:sp>
      <p:sp>
        <p:nvSpPr>
          <p:cNvPr id="424" name="Google Shape;424;p42"/>
          <p:cNvSpPr/>
          <p:nvPr/>
        </p:nvSpPr>
        <p:spPr>
          <a:xfrm>
            <a:off x="1451134" y="1478961"/>
            <a:ext cx="11773733" cy="54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500"/>
              <a:buFont typeface="Barlow"/>
              <a:buNone/>
            </a:pPr>
            <a:r>
              <a:rPr lang="en-US" sz="20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ThermoChain AI provides critical support across diverse and highly sensitive pharmaceutical logistics scenarios, ensuring product integrity and patient safety.</a:t>
            </a:r>
            <a:endParaRPr sz="2000" b="0" i="0" u="none" strike="noStrike" cap="none" dirty="0"/>
          </a:p>
        </p:txBody>
      </p:sp>
      <p:sp>
        <p:nvSpPr>
          <p:cNvPr id="425" name="Google Shape;425;p42"/>
          <p:cNvSpPr/>
          <p:nvPr/>
        </p:nvSpPr>
        <p:spPr>
          <a:xfrm>
            <a:off x="1428274" y="2675573"/>
            <a:ext cx="5812274" cy="2137291"/>
          </a:xfrm>
          <a:prstGeom prst="roundRect">
            <a:avLst>
              <a:gd name="adj" fmla="val 13473"/>
            </a:avLst>
          </a:prstGeom>
          <a:solidFill>
            <a:srgbClr val="0A081B">
              <a:alpha val="74901"/>
            </a:srgbClr>
          </a:solidFill>
          <a:ln w="22850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2"/>
          <p:cNvSpPr/>
          <p:nvPr/>
        </p:nvSpPr>
        <p:spPr>
          <a:xfrm>
            <a:off x="1451134" y="2698433"/>
            <a:ext cx="5766554" cy="575786"/>
          </a:xfrm>
          <a:prstGeom prst="roundRect">
            <a:avLst>
              <a:gd name="adj" fmla="val 45245"/>
            </a:avLst>
          </a:prstGeom>
          <a:solidFill>
            <a:srgbClr val="0A08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7" name="Google Shape;427;p4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0405" y="2830830"/>
            <a:ext cx="287893" cy="28789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2"/>
          <p:cNvSpPr/>
          <p:nvPr/>
        </p:nvSpPr>
        <p:spPr>
          <a:xfrm>
            <a:off x="7389733" y="2675573"/>
            <a:ext cx="5812274" cy="2137291"/>
          </a:xfrm>
          <a:prstGeom prst="roundRect">
            <a:avLst>
              <a:gd name="adj" fmla="val 13473"/>
            </a:avLst>
          </a:prstGeom>
          <a:solidFill>
            <a:srgbClr val="0A081B">
              <a:alpha val="74901"/>
            </a:srgbClr>
          </a:solidFill>
          <a:ln w="22850" cap="flat" cmpd="sng">
            <a:solidFill>
              <a:srgbClr val="29D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2"/>
          <p:cNvSpPr/>
          <p:nvPr/>
        </p:nvSpPr>
        <p:spPr>
          <a:xfrm>
            <a:off x="7412593" y="2698433"/>
            <a:ext cx="5766554" cy="575786"/>
          </a:xfrm>
          <a:prstGeom prst="roundRect">
            <a:avLst>
              <a:gd name="adj" fmla="val 45245"/>
            </a:avLst>
          </a:prstGeom>
          <a:solidFill>
            <a:srgbClr val="0A08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2" name="Google Shape;432;p4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4972" y="2830830"/>
            <a:ext cx="287893" cy="28789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2"/>
          <p:cNvSpPr/>
          <p:nvPr/>
        </p:nvSpPr>
        <p:spPr>
          <a:xfrm>
            <a:off x="8622938" y="3134393"/>
            <a:ext cx="3345863" cy="38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4242"/>
              </a:lnSpc>
              <a:buClr>
                <a:srgbClr val="E0E4E6"/>
              </a:buClr>
              <a:buSzPts val="1650"/>
            </a:pPr>
            <a:r>
              <a:rPr lang="en-IN" sz="1800" b="1" dirty="0">
                <a:solidFill>
                  <a:srgbClr val="4BFF54"/>
                </a:solidFill>
              </a:rPr>
              <a:t>Biologics &amp; Insulin Integrity</a:t>
            </a:r>
            <a:endParaRPr sz="1650" b="1" i="0" u="none" strike="noStrike" cap="none" dirty="0">
              <a:solidFill>
                <a:srgbClr val="4BFF54"/>
              </a:solidFill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1428274" y="4962049"/>
            <a:ext cx="5812274" cy="2271089"/>
          </a:xfrm>
          <a:prstGeom prst="roundRect">
            <a:avLst>
              <a:gd name="adj" fmla="val 13473"/>
            </a:avLst>
          </a:prstGeom>
          <a:solidFill>
            <a:srgbClr val="0A081B">
              <a:alpha val="74901"/>
            </a:srgbClr>
          </a:solidFill>
          <a:ln w="22850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2"/>
          <p:cNvSpPr/>
          <p:nvPr/>
        </p:nvSpPr>
        <p:spPr>
          <a:xfrm>
            <a:off x="1451134" y="4984909"/>
            <a:ext cx="5766554" cy="575786"/>
          </a:xfrm>
          <a:prstGeom prst="roundRect">
            <a:avLst>
              <a:gd name="adj" fmla="val 45245"/>
            </a:avLst>
          </a:prstGeom>
          <a:solidFill>
            <a:srgbClr val="0A08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7" name="Google Shape;437;p4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0405" y="5117306"/>
            <a:ext cx="287893" cy="28789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2"/>
          <p:cNvSpPr/>
          <p:nvPr/>
        </p:nvSpPr>
        <p:spPr>
          <a:xfrm>
            <a:off x="2704252" y="5405199"/>
            <a:ext cx="3819891" cy="26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4242"/>
              </a:lnSpc>
              <a:buClr>
                <a:srgbClr val="E0E4E6"/>
              </a:buClr>
              <a:buSzPts val="1650"/>
            </a:pPr>
            <a:r>
              <a:rPr lang="en-IN" sz="1800" b="1" dirty="0">
                <a:solidFill>
                  <a:srgbClr val="4BFF54"/>
                </a:solidFill>
              </a:rPr>
              <a:t>Time-Critical Organ Transports</a:t>
            </a:r>
            <a:endParaRPr sz="1650" b="1" i="0" u="none" strike="noStrike" cap="none" dirty="0">
              <a:solidFill>
                <a:srgbClr val="4BFF54"/>
              </a:solidFill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7389733" y="4962049"/>
            <a:ext cx="5812274" cy="2271089"/>
          </a:xfrm>
          <a:prstGeom prst="roundRect">
            <a:avLst>
              <a:gd name="adj" fmla="val 13473"/>
            </a:avLst>
          </a:prstGeom>
          <a:solidFill>
            <a:srgbClr val="0A081B">
              <a:alpha val="74901"/>
            </a:srgbClr>
          </a:solidFill>
          <a:ln w="22850" cap="flat" cmpd="sng">
            <a:solidFill>
              <a:srgbClr val="0912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42"/>
          <p:cNvSpPr/>
          <p:nvPr/>
        </p:nvSpPr>
        <p:spPr>
          <a:xfrm>
            <a:off x="7412593" y="4984909"/>
            <a:ext cx="5766554" cy="575786"/>
          </a:xfrm>
          <a:prstGeom prst="roundRect">
            <a:avLst>
              <a:gd name="adj" fmla="val 45245"/>
            </a:avLst>
          </a:prstGeom>
          <a:solidFill>
            <a:srgbClr val="0A08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2" name="Google Shape;442;p4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04971" y="5117306"/>
            <a:ext cx="287893" cy="28789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2"/>
          <p:cNvSpPr/>
          <p:nvPr/>
        </p:nvSpPr>
        <p:spPr>
          <a:xfrm>
            <a:off x="8622938" y="5405556"/>
            <a:ext cx="4728155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4242"/>
              </a:lnSpc>
              <a:buClr>
                <a:srgbClr val="E0E4E6"/>
              </a:buClr>
              <a:buSzPts val="1650"/>
            </a:pPr>
            <a:r>
              <a:rPr lang="en-IN" sz="1800" b="1" dirty="0">
                <a:solidFill>
                  <a:srgbClr val="4BFF54"/>
                </a:solidFill>
              </a:rPr>
              <a:t>Regulatory Data Compliance</a:t>
            </a:r>
            <a:endParaRPr sz="1650" b="1" i="0" u="none" strike="noStrike" cap="none" dirty="0">
              <a:solidFill>
                <a:srgbClr val="4BFF5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E907CD-DCA5-E439-6BBE-BB0BC8897EEA}"/>
              </a:ext>
            </a:extLst>
          </p:cNvPr>
          <p:cNvSpPr txBox="1"/>
          <p:nvPr/>
        </p:nvSpPr>
        <p:spPr>
          <a:xfrm>
            <a:off x="2993511" y="3096423"/>
            <a:ext cx="3241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4BFF54"/>
                </a:solidFill>
                <a:latin typeface="+mn-lt"/>
              </a:rPr>
              <a:t>Last-Mile Vaccine Delivery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9F1FF-7987-015F-0591-6D3981FE7184}"/>
              </a:ext>
            </a:extLst>
          </p:cNvPr>
          <p:cNvSpPr txBox="1"/>
          <p:nvPr/>
        </p:nvSpPr>
        <p:spPr>
          <a:xfrm>
            <a:off x="1949803" y="3469821"/>
            <a:ext cx="5439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Focus: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Ensuring 100% vaccine potency for rural healthcare centres </a:t>
            </a:r>
            <a:r>
              <a:rPr lang="en-IN" sz="1600" b="1" dirty="0"/>
              <a:t>:</a:t>
            </a:r>
            <a:r>
              <a:rPr lang="en-IN" sz="1600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76C63-D441-ABDC-19CC-4E8B659FD487}"/>
              </a:ext>
            </a:extLst>
          </p:cNvPr>
          <p:cNvSpPr txBox="1"/>
          <p:nvPr/>
        </p:nvSpPr>
        <p:spPr>
          <a:xfrm>
            <a:off x="1949802" y="3997570"/>
            <a:ext cx="4755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Impact: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Protects the health of millions in remote areas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0DDDE-1F45-CBA6-0C11-6AE85169A819}"/>
              </a:ext>
            </a:extLst>
          </p:cNvPr>
          <p:cNvSpPr txBox="1"/>
          <p:nvPr/>
        </p:nvSpPr>
        <p:spPr>
          <a:xfrm>
            <a:off x="7901719" y="3477268"/>
            <a:ext cx="5076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Focus: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Tamper-proof tracking for highly sensitive life-saving drugs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7E8F6-07FD-C18A-50F8-D1E28D1ED9A0}"/>
              </a:ext>
            </a:extLst>
          </p:cNvPr>
          <p:cNvSpPr txBox="1"/>
          <p:nvPr/>
        </p:nvSpPr>
        <p:spPr>
          <a:xfrm>
            <a:off x="7901719" y="4011000"/>
            <a:ext cx="5277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Impact:</a:t>
            </a:r>
            <a:r>
              <a:rPr lang="en-US" sz="1600" dirty="0">
                <a:solidFill>
                  <a:schemeClr val="bg1"/>
                </a:solidFill>
              </a:rPr>
              <a:t> Guarantees that the medicine received is safe and effective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7ACEB-4038-5208-8450-6491DC4F64A7}"/>
              </a:ext>
            </a:extLst>
          </p:cNvPr>
          <p:cNvSpPr txBox="1"/>
          <p:nvPr/>
        </p:nvSpPr>
        <p:spPr>
          <a:xfrm>
            <a:off x="1949802" y="5797400"/>
            <a:ext cx="4978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Focus: </a:t>
            </a:r>
            <a:r>
              <a:rPr lang="en-US" sz="1600" dirty="0">
                <a:solidFill>
                  <a:schemeClr val="bg1"/>
                </a:solidFill>
              </a:rPr>
              <a:t>Fail-safe, real-time environment monitoring for organ transplants</a:t>
            </a:r>
            <a:r>
              <a:rPr lang="en-US" dirty="0"/>
              <a:t>.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73890-C21D-369B-07E6-B92B1CE14A5B}"/>
              </a:ext>
            </a:extLst>
          </p:cNvPr>
          <p:cNvSpPr txBox="1"/>
          <p:nvPr/>
        </p:nvSpPr>
        <p:spPr>
          <a:xfrm>
            <a:off x="1949802" y="6351489"/>
            <a:ext cx="510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Impact: </a:t>
            </a:r>
            <a:r>
              <a:rPr lang="en-US" sz="1600" dirty="0">
                <a:solidFill>
                  <a:schemeClr val="bg1"/>
                </a:solidFill>
              </a:rPr>
              <a:t>Dramatically increases success rates for life-saving surgeries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912B3-9DCD-450D-04D0-898C70A63C60}"/>
              </a:ext>
            </a:extLst>
          </p:cNvPr>
          <p:cNvSpPr txBox="1"/>
          <p:nvPr/>
        </p:nvSpPr>
        <p:spPr>
          <a:xfrm>
            <a:off x="7741514" y="5793390"/>
            <a:ext cx="5177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Focus: </a:t>
            </a:r>
            <a:r>
              <a:rPr lang="en-US" sz="1600" dirty="0">
                <a:solidFill>
                  <a:schemeClr val="bg1"/>
                </a:solidFill>
              </a:rPr>
              <a:t>Providing automated, audit-ready data for the Food and Drug Administration (FDA) and World Health Organization (WHO).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7F316-DC9E-54C2-CCA4-7FABE190C4F2}"/>
              </a:ext>
            </a:extLst>
          </p:cNvPr>
          <p:cNvSpPr txBox="1"/>
          <p:nvPr/>
        </p:nvSpPr>
        <p:spPr>
          <a:xfrm>
            <a:off x="7741514" y="6549266"/>
            <a:ext cx="538089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Impact: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Eliminates compliance risks and builds global trust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/>
          <p:nvPr/>
        </p:nvSpPr>
        <p:spPr>
          <a:xfrm>
            <a:off x="891896" y="714851"/>
            <a:ext cx="8709303" cy="58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650"/>
              <a:buFont typeface="Spline Sans"/>
              <a:buNone/>
            </a:pPr>
            <a:r>
              <a:rPr lang="en-US" sz="3650" b="1" i="0" u="none" strike="noStrike" cap="none" dirty="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Implementation Timeline</a:t>
            </a:r>
            <a:endParaRPr sz="3650" b="0" i="0" u="none" strike="noStrike" cap="none" dirty="0"/>
          </a:p>
        </p:txBody>
      </p:sp>
      <p:sp>
        <p:nvSpPr>
          <p:cNvPr id="309" name="Google Shape;309;p37"/>
          <p:cNvSpPr/>
          <p:nvPr/>
        </p:nvSpPr>
        <p:spPr>
          <a:xfrm>
            <a:off x="880467" y="1346596"/>
            <a:ext cx="12846606" cy="6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lang="en-US" sz="1600" b="0" i="0" u="none" strike="noStrike" cap="none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Our strategic roadmap outlines a phased approach to bring ThermoChain AI to market, ensuring robust development and successful deployment.</a:t>
            </a:r>
            <a:endParaRPr sz="1600" b="0" i="0" u="none" strike="noStrike" cap="none" dirty="0"/>
          </a:p>
        </p:txBody>
      </p:sp>
      <p:sp>
        <p:nvSpPr>
          <p:cNvPr id="310" name="Google Shape;310;p37"/>
          <p:cNvSpPr/>
          <p:nvPr/>
        </p:nvSpPr>
        <p:spPr>
          <a:xfrm>
            <a:off x="7315199" y="2441138"/>
            <a:ext cx="22860" cy="5043488"/>
          </a:xfrm>
          <a:prstGeom prst="roundRect">
            <a:avLst>
              <a:gd name="adj" fmla="val 1374392"/>
            </a:avLst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7"/>
          <p:cNvSpPr/>
          <p:nvPr/>
        </p:nvSpPr>
        <p:spPr>
          <a:xfrm>
            <a:off x="6474143" y="2695456"/>
            <a:ext cx="628293" cy="22860"/>
          </a:xfrm>
          <a:prstGeom prst="roundRect">
            <a:avLst>
              <a:gd name="adj" fmla="val 1374392"/>
            </a:avLst>
          </a:prstGeom>
          <a:solidFill>
            <a:srgbClr val="16F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7"/>
          <p:cNvSpPr/>
          <p:nvPr/>
        </p:nvSpPr>
        <p:spPr>
          <a:xfrm>
            <a:off x="7079575" y="2471261"/>
            <a:ext cx="471249" cy="471249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50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7"/>
          <p:cNvSpPr/>
          <p:nvPr/>
        </p:nvSpPr>
        <p:spPr>
          <a:xfrm>
            <a:off x="7175599" y="2532340"/>
            <a:ext cx="279202" cy="34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</a:t>
            </a:r>
            <a:endParaRPr sz="2150" b="0" i="0" u="none" strike="noStrike" cap="none"/>
          </a:p>
        </p:txBody>
      </p:sp>
      <p:sp>
        <p:nvSpPr>
          <p:cNvPr id="314" name="Google Shape;314;p37"/>
          <p:cNvSpPr/>
          <p:nvPr/>
        </p:nvSpPr>
        <p:spPr>
          <a:xfrm>
            <a:off x="3940731" y="2543175"/>
            <a:ext cx="2327196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lang="en-US" sz="18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Phase 1: Foundation</a:t>
            </a:r>
            <a:endParaRPr sz="1800" b="0" i="0" u="none" strike="noStrike" cap="none"/>
          </a:p>
        </p:txBody>
      </p:sp>
      <p:sp>
        <p:nvSpPr>
          <p:cNvPr id="315" name="Google Shape;315;p37"/>
          <p:cNvSpPr/>
          <p:nvPr/>
        </p:nvSpPr>
        <p:spPr>
          <a:xfrm>
            <a:off x="891897" y="2940606"/>
            <a:ext cx="5376029" cy="6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lang="en-US" sz="1600" b="1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Months 1-3:</a:t>
            </a:r>
            <a:r>
              <a:rPr lang="en-US" sz="16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MVP development, IoT sensor integration, and initial blockchain setup.</a:t>
            </a:r>
            <a:endParaRPr sz="1600" b="0" i="0" u="none" strike="noStrike" cap="none"/>
          </a:p>
        </p:txBody>
      </p:sp>
      <p:sp>
        <p:nvSpPr>
          <p:cNvPr id="316" name="Google Shape;316;p37"/>
          <p:cNvSpPr/>
          <p:nvPr/>
        </p:nvSpPr>
        <p:spPr>
          <a:xfrm>
            <a:off x="7527965" y="3888581"/>
            <a:ext cx="628293" cy="22860"/>
          </a:xfrm>
          <a:prstGeom prst="roundRect">
            <a:avLst>
              <a:gd name="adj" fmla="val 1374392"/>
            </a:avLst>
          </a:prstGeom>
          <a:solidFill>
            <a:srgbClr val="29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7"/>
          <p:cNvSpPr/>
          <p:nvPr/>
        </p:nvSpPr>
        <p:spPr>
          <a:xfrm>
            <a:off x="7079575" y="3664387"/>
            <a:ext cx="471249" cy="471249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50" cap="flat" cmpd="sng">
            <a:solidFill>
              <a:srgbClr val="29D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7"/>
          <p:cNvSpPr/>
          <p:nvPr/>
        </p:nvSpPr>
        <p:spPr>
          <a:xfrm>
            <a:off x="7175599" y="3725466"/>
            <a:ext cx="279202" cy="34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</a:t>
            </a:r>
            <a:endParaRPr sz="2150" b="0" i="0" u="none" strike="noStrike" cap="none"/>
          </a:p>
        </p:txBody>
      </p:sp>
      <p:sp>
        <p:nvSpPr>
          <p:cNvPr id="319" name="Google Shape;319;p37"/>
          <p:cNvSpPr/>
          <p:nvPr/>
        </p:nvSpPr>
        <p:spPr>
          <a:xfrm>
            <a:off x="8362474" y="3736300"/>
            <a:ext cx="3273385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lang="en-US" sz="18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Phase 2: Refinement &amp; Testing</a:t>
            </a:r>
            <a:endParaRPr sz="1800" b="0" i="0" u="none" strike="noStrike" cap="none"/>
          </a:p>
        </p:txBody>
      </p:sp>
      <p:sp>
        <p:nvSpPr>
          <p:cNvPr id="320" name="Google Shape;320;p37"/>
          <p:cNvSpPr/>
          <p:nvPr/>
        </p:nvSpPr>
        <p:spPr>
          <a:xfrm>
            <a:off x="8362474" y="4133731"/>
            <a:ext cx="5376029" cy="6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lang="en-US" sz="1600" b="1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Months 4-6:</a:t>
            </a:r>
            <a:r>
              <a:rPr lang="en-US" sz="16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AI model training, followed by pilot testing with key logistics partners.</a:t>
            </a:r>
            <a:endParaRPr sz="1600" b="0" i="0" u="none" strike="noStrike" cap="none"/>
          </a:p>
        </p:txBody>
      </p:sp>
      <p:sp>
        <p:nvSpPr>
          <p:cNvPr id="321" name="Google Shape;321;p37"/>
          <p:cNvSpPr/>
          <p:nvPr/>
        </p:nvSpPr>
        <p:spPr>
          <a:xfrm>
            <a:off x="6474143" y="4940022"/>
            <a:ext cx="628293" cy="22860"/>
          </a:xfrm>
          <a:prstGeom prst="roundRect">
            <a:avLst>
              <a:gd name="adj" fmla="val 1374392"/>
            </a:avLst>
          </a:prstGeom>
          <a:solidFill>
            <a:srgbClr val="37A7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7"/>
          <p:cNvSpPr/>
          <p:nvPr/>
        </p:nvSpPr>
        <p:spPr>
          <a:xfrm>
            <a:off x="7079575" y="4715828"/>
            <a:ext cx="471249" cy="471249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50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7"/>
          <p:cNvSpPr/>
          <p:nvPr/>
        </p:nvSpPr>
        <p:spPr>
          <a:xfrm>
            <a:off x="7175599" y="4776907"/>
            <a:ext cx="279202" cy="34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</a:t>
            </a:r>
            <a:endParaRPr sz="2150" b="0" i="0" u="none" strike="noStrike" cap="none"/>
          </a:p>
        </p:txBody>
      </p:sp>
      <p:sp>
        <p:nvSpPr>
          <p:cNvPr id="324" name="Google Shape;324;p37"/>
          <p:cNvSpPr/>
          <p:nvPr/>
        </p:nvSpPr>
        <p:spPr>
          <a:xfrm>
            <a:off x="2962989" y="4787741"/>
            <a:ext cx="3304937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lang="en-US" sz="18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Phase 3: Launch &amp; Onboarding</a:t>
            </a:r>
            <a:endParaRPr sz="1800" b="0" i="0" u="none" strike="noStrike" cap="none"/>
          </a:p>
        </p:txBody>
      </p:sp>
      <p:sp>
        <p:nvSpPr>
          <p:cNvPr id="325" name="Google Shape;325;p37"/>
          <p:cNvSpPr/>
          <p:nvPr/>
        </p:nvSpPr>
        <p:spPr>
          <a:xfrm>
            <a:off x="891897" y="5185172"/>
            <a:ext cx="5376029" cy="6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lang="en-US" sz="1600" b="1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Months 7-9:</a:t>
            </a:r>
            <a:r>
              <a:rPr lang="en-US" sz="16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Full platform launch and initial enterprise client onboarding.</a:t>
            </a:r>
            <a:endParaRPr sz="1600" b="0" i="0" u="none" strike="noStrike" cap="none"/>
          </a:p>
        </p:txBody>
      </p:sp>
      <p:sp>
        <p:nvSpPr>
          <p:cNvPr id="326" name="Google Shape;326;p37"/>
          <p:cNvSpPr/>
          <p:nvPr/>
        </p:nvSpPr>
        <p:spPr>
          <a:xfrm>
            <a:off x="7527965" y="5991463"/>
            <a:ext cx="628293" cy="22860"/>
          </a:xfrm>
          <a:prstGeom prst="roundRect">
            <a:avLst>
              <a:gd name="adj" fmla="val 1374392"/>
            </a:avLst>
          </a:prstGeom>
          <a:solidFill>
            <a:srgbClr val="091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7"/>
          <p:cNvSpPr/>
          <p:nvPr/>
        </p:nvSpPr>
        <p:spPr>
          <a:xfrm>
            <a:off x="7079575" y="5767268"/>
            <a:ext cx="471249" cy="471249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50" cap="flat" cmpd="sng">
            <a:solidFill>
              <a:srgbClr val="0912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7"/>
          <p:cNvSpPr/>
          <p:nvPr/>
        </p:nvSpPr>
        <p:spPr>
          <a:xfrm>
            <a:off x="7175599" y="5828348"/>
            <a:ext cx="279202" cy="34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lang="en-US" sz="215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4</a:t>
            </a:r>
            <a:endParaRPr sz="2150" b="0" i="0" u="none" strike="noStrike" cap="none"/>
          </a:p>
        </p:txBody>
      </p:sp>
      <p:sp>
        <p:nvSpPr>
          <p:cNvPr id="329" name="Google Shape;329;p37"/>
          <p:cNvSpPr/>
          <p:nvPr/>
        </p:nvSpPr>
        <p:spPr>
          <a:xfrm>
            <a:off x="8362474" y="5839182"/>
            <a:ext cx="2614255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lang="en-US" sz="18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Phase 4: Scale &amp; Expand</a:t>
            </a:r>
            <a:endParaRPr sz="1800" b="0" i="0" u="none" strike="noStrike" cap="none"/>
          </a:p>
        </p:txBody>
      </p:sp>
      <p:sp>
        <p:nvSpPr>
          <p:cNvPr id="330" name="Google Shape;330;p37"/>
          <p:cNvSpPr/>
          <p:nvPr/>
        </p:nvSpPr>
        <p:spPr>
          <a:xfrm>
            <a:off x="8362474" y="6236613"/>
            <a:ext cx="5376029" cy="6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lang="en-US" sz="1600" b="1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Months 10-12:</a:t>
            </a:r>
            <a:r>
              <a:rPr lang="en-US" sz="16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Scale operations, optimize performance, and expand into international markets.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"/>
          <p:cNvSpPr/>
          <p:nvPr/>
        </p:nvSpPr>
        <p:spPr>
          <a:xfrm>
            <a:off x="7378422" y="2239208"/>
            <a:ext cx="4786670" cy="52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4100"/>
              <a:buFont typeface="Spline Sans"/>
              <a:buNone/>
            </a:pPr>
            <a:endParaRPr sz="4100" b="0" i="0" u="none" strike="noStrike" cap="none" dirty="0"/>
          </a:p>
        </p:txBody>
      </p:sp>
      <p:sp>
        <p:nvSpPr>
          <p:cNvPr id="497" name="Google Shape;497;p45"/>
          <p:cNvSpPr/>
          <p:nvPr/>
        </p:nvSpPr>
        <p:spPr>
          <a:xfrm>
            <a:off x="8893135" y="4362331"/>
            <a:ext cx="1757124" cy="21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endParaRPr sz="1350" b="0" i="0" u="none" strike="noStrike" cap="none" dirty="0"/>
          </a:p>
        </p:txBody>
      </p:sp>
      <p:sp>
        <p:nvSpPr>
          <p:cNvPr id="498" name="Google Shape;498;p45"/>
          <p:cNvSpPr/>
          <p:nvPr/>
        </p:nvSpPr>
        <p:spPr>
          <a:xfrm>
            <a:off x="7378422" y="4642723"/>
            <a:ext cx="4786670" cy="41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endParaRPr sz="1200" b="0" i="0" u="none" strike="noStrike" cap="none" dirty="0"/>
          </a:p>
        </p:txBody>
      </p:sp>
      <p:sp>
        <p:nvSpPr>
          <p:cNvPr id="5" name="Google Shape;222;p33">
            <a:extLst>
              <a:ext uri="{FF2B5EF4-FFF2-40B4-BE49-F238E27FC236}">
                <a16:creationId xmlns:a16="http://schemas.microsoft.com/office/drawing/2014/main" id="{DBFB51D3-5448-3B82-2A19-5A1B327FE60B}"/>
              </a:ext>
            </a:extLst>
          </p:cNvPr>
          <p:cNvSpPr/>
          <p:nvPr/>
        </p:nvSpPr>
        <p:spPr>
          <a:xfrm>
            <a:off x="1833991" y="1951415"/>
            <a:ext cx="10331099" cy="916191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222;p33">
            <a:extLst>
              <a:ext uri="{FF2B5EF4-FFF2-40B4-BE49-F238E27FC236}">
                <a16:creationId xmlns:a16="http://schemas.microsoft.com/office/drawing/2014/main" id="{6DD8D70A-6581-1E80-F2FD-0CC9D2F2C268}"/>
              </a:ext>
            </a:extLst>
          </p:cNvPr>
          <p:cNvSpPr/>
          <p:nvPr/>
        </p:nvSpPr>
        <p:spPr>
          <a:xfrm>
            <a:off x="1833991" y="5012704"/>
            <a:ext cx="10331099" cy="712914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222;p33">
            <a:extLst>
              <a:ext uri="{FF2B5EF4-FFF2-40B4-BE49-F238E27FC236}">
                <a16:creationId xmlns:a16="http://schemas.microsoft.com/office/drawing/2014/main" id="{050EC52F-D08E-D0A4-6CAE-30EAD7927DA2}"/>
              </a:ext>
            </a:extLst>
          </p:cNvPr>
          <p:cNvSpPr/>
          <p:nvPr/>
        </p:nvSpPr>
        <p:spPr>
          <a:xfrm>
            <a:off x="1833991" y="4299791"/>
            <a:ext cx="10331099" cy="712913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222;p33">
            <a:extLst>
              <a:ext uri="{FF2B5EF4-FFF2-40B4-BE49-F238E27FC236}">
                <a16:creationId xmlns:a16="http://schemas.microsoft.com/office/drawing/2014/main" id="{15E60FF4-61BD-FCA4-3EF6-F403424945C2}"/>
              </a:ext>
            </a:extLst>
          </p:cNvPr>
          <p:cNvSpPr/>
          <p:nvPr/>
        </p:nvSpPr>
        <p:spPr>
          <a:xfrm>
            <a:off x="1833991" y="3586877"/>
            <a:ext cx="10331099" cy="712914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222;p33">
            <a:extLst>
              <a:ext uri="{FF2B5EF4-FFF2-40B4-BE49-F238E27FC236}">
                <a16:creationId xmlns:a16="http://schemas.microsoft.com/office/drawing/2014/main" id="{248A87F3-C48E-5118-7481-F99842C16DE0}"/>
              </a:ext>
            </a:extLst>
          </p:cNvPr>
          <p:cNvSpPr/>
          <p:nvPr/>
        </p:nvSpPr>
        <p:spPr>
          <a:xfrm>
            <a:off x="1833992" y="2873964"/>
            <a:ext cx="10331099" cy="712913"/>
          </a:xfrm>
          <a:prstGeom prst="roundRect">
            <a:avLst>
              <a:gd name="adj" fmla="val 16956"/>
            </a:avLst>
          </a:prstGeom>
          <a:solidFill>
            <a:srgbClr val="0A081B"/>
          </a:solidFill>
          <a:ln w="152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DD7A7-BF03-53CC-2495-AC19590B0802}"/>
              </a:ext>
            </a:extLst>
          </p:cNvPr>
          <p:cNvSpPr txBox="1"/>
          <p:nvPr/>
        </p:nvSpPr>
        <p:spPr>
          <a:xfrm>
            <a:off x="2912647" y="813994"/>
            <a:ext cx="964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95000"/>
                  </a:schemeClr>
                </a:solidFill>
              </a:rPr>
              <a:t>The Competitive Advantage Matrix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DA6EC4-9144-B0C4-1195-FD8F7B9FABFD}"/>
              </a:ext>
            </a:extLst>
          </p:cNvPr>
          <p:cNvCxnSpPr>
            <a:cxnSpLocks/>
          </p:cNvCxnSpPr>
          <p:nvPr/>
        </p:nvCxnSpPr>
        <p:spPr>
          <a:xfrm>
            <a:off x="4888521" y="1962978"/>
            <a:ext cx="0" cy="376264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175DE2-7681-EC2D-6C19-D9D02440BF7E}"/>
              </a:ext>
            </a:extLst>
          </p:cNvPr>
          <p:cNvCxnSpPr>
            <a:cxnSpLocks/>
          </p:cNvCxnSpPr>
          <p:nvPr/>
        </p:nvCxnSpPr>
        <p:spPr>
          <a:xfrm>
            <a:off x="8675082" y="1962978"/>
            <a:ext cx="0" cy="3762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219DB6-D206-2FB0-0EBA-CFF744E3B1C7}"/>
              </a:ext>
            </a:extLst>
          </p:cNvPr>
          <p:cNvSpPr txBox="1"/>
          <p:nvPr/>
        </p:nvSpPr>
        <p:spPr>
          <a:xfrm>
            <a:off x="2724451" y="2190240"/>
            <a:ext cx="1515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Feature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D04DD7-ABF2-6897-0102-B680E16C202F}"/>
              </a:ext>
            </a:extLst>
          </p:cNvPr>
          <p:cNvSpPr txBox="1"/>
          <p:nvPr/>
        </p:nvSpPr>
        <p:spPr>
          <a:xfrm>
            <a:off x="5130651" y="2194375"/>
            <a:ext cx="3376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C00000"/>
                </a:solidFill>
              </a:rPr>
              <a:t>Traditional Cold Chain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3666ED-90A3-A4A4-281A-D94AE9F90113}"/>
              </a:ext>
            </a:extLst>
          </p:cNvPr>
          <p:cNvSpPr txBox="1"/>
          <p:nvPr/>
        </p:nvSpPr>
        <p:spPr>
          <a:xfrm>
            <a:off x="9419336" y="2191772"/>
            <a:ext cx="2555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4BFF54"/>
                </a:solidFill>
                <a:highlight>
                  <a:srgbClr val="000000"/>
                </a:highlight>
              </a:rPr>
              <a:t>VitalChain</a:t>
            </a:r>
            <a:r>
              <a:rPr lang="en-IN" sz="2400" b="1" dirty="0">
                <a:solidFill>
                  <a:srgbClr val="4BFF54"/>
                </a:solidFill>
                <a:highlight>
                  <a:srgbClr val="000000"/>
                </a:highlight>
              </a:rPr>
              <a:t> AI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6FDE3-0CED-2A43-C9C1-F11CBC2E9EC9}"/>
              </a:ext>
            </a:extLst>
          </p:cNvPr>
          <p:cNvSpPr txBox="1"/>
          <p:nvPr/>
        </p:nvSpPr>
        <p:spPr>
          <a:xfrm>
            <a:off x="2598960" y="2999553"/>
            <a:ext cx="17667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Monitoring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1AF65-1453-4D2E-E86E-49D8EF8699DF}"/>
              </a:ext>
            </a:extLst>
          </p:cNvPr>
          <p:cNvSpPr txBox="1"/>
          <p:nvPr/>
        </p:nvSpPr>
        <p:spPr>
          <a:xfrm>
            <a:off x="2598960" y="3727890"/>
            <a:ext cx="19048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Response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966591-5BDA-B24A-A134-5CE3B782A6B9}"/>
              </a:ext>
            </a:extLst>
          </p:cNvPr>
          <p:cNvSpPr txBox="1"/>
          <p:nvPr/>
        </p:nvSpPr>
        <p:spPr>
          <a:xfrm>
            <a:off x="2421268" y="4419243"/>
            <a:ext cx="19048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Data Security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5521A0-FE33-114D-E297-B8945FA8993E}"/>
              </a:ext>
            </a:extLst>
          </p:cNvPr>
          <p:cNvSpPr txBox="1"/>
          <p:nvPr/>
        </p:nvSpPr>
        <p:spPr>
          <a:xfrm>
            <a:off x="2454202" y="5153717"/>
            <a:ext cx="2110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Compliance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B3AC82-582E-EBB7-0923-72225A25F800}"/>
              </a:ext>
            </a:extLst>
          </p:cNvPr>
          <p:cNvSpPr txBox="1"/>
          <p:nvPr/>
        </p:nvSpPr>
        <p:spPr>
          <a:xfrm>
            <a:off x="5177541" y="3011053"/>
            <a:ext cx="33939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Reactive (Post-Damage)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1F96E9-0420-A83C-60F1-57B597D88AC8}"/>
              </a:ext>
            </a:extLst>
          </p:cNvPr>
          <p:cNvSpPr txBox="1"/>
          <p:nvPr/>
        </p:nvSpPr>
        <p:spPr>
          <a:xfrm>
            <a:off x="5576205" y="3727889"/>
            <a:ext cx="2532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Manual/Delayed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CE9D5D-7C6B-24C3-9EE5-C4D30984E5FF}"/>
              </a:ext>
            </a:extLst>
          </p:cNvPr>
          <p:cNvSpPr txBox="1"/>
          <p:nvPr/>
        </p:nvSpPr>
        <p:spPr>
          <a:xfrm>
            <a:off x="5308409" y="4437064"/>
            <a:ext cx="3965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Centralized (Editable)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688130-56CA-4DAE-912C-7D98C2EA3008}"/>
              </a:ext>
            </a:extLst>
          </p:cNvPr>
          <p:cNvSpPr txBox="1"/>
          <p:nvPr/>
        </p:nvSpPr>
        <p:spPr>
          <a:xfrm>
            <a:off x="5398477" y="5149977"/>
            <a:ext cx="3833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Risk of Manipulation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20CCB9-04A1-6D2C-A1BF-9B6296C21686}"/>
              </a:ext>
            </a:extLst>
          </p:cNvPr>
          <p:cNvSpPr txBox="1"/>
          <p:nvPr/>
        </p:nvSpPr>
        <p:spPr>
          <a:xfrm>
            <a:off x="9006337" y="3031600"/>
            <a:ext cx="3001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4BFF54"/>
                </a:solidFill>
              </a:rPr>
              <a:t>Proactive (Predictive)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A89121-0C30-BBBC-721C-989FFC54C69C}"/>
              </a:ext>
            </a:extLst>
          </p:cNvPr>
          <p:cNvSpPr txBox="1"/>
          <p:nvPr/>
        </p:nvSpPr>
        <p:spPr>
          <a:xfrm>
            <a:off x="9082694" y="3727889"/>
            <a:ext cx="31940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4BFF54"/>
                </a:solidFill>
              </a:rPr>
              <a:t>Instant/Autonomous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70FEEE-D112-B7B3-8684-1B3F600D7577}"/>
              </a:ext>
            </a:extLst>
          </p:cNvPr>
          <p:cNvSpPr txBox="1"/>
          <p:nvPr/>
        </p:nvSpPr>
        <p:spPr>
          <a:xfrm>
            <a:off x="8873676" y="4444544"/>
            <a:ext cx="36870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4BFF54"/>
                </a:solidFill>
              </a:rPr>
              <a:t>Blockchain (Immutable)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C07A29-7F5A-2EEC-628D-130F7ABF6A59}"/>
              </a:ext>
            </a:extLst>
          </p:cNvPr>
          <p:cNvSpPr txBox="1"/>
          <p:nvPr/>
        </p:nvSpPr>
        <p:spPr>
          <a:xfrm>
            <a:off x="9152258" y="5149976"/>
            <a:ext cx="33410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4BFF54"/>
                </a:solidFill>
              </a:rPr>
              <a:t>100% Audit-Ready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118C56E0-9003-A33D-2C0D-9C8B8451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">
            <a:extLst>
              <a:ext uri="{FF2B5EF4-FFF2-40B4-BE49-F238E27FC236}">
                <a16:creationId xmlns:a16="http://schemas.microsoft.com/office/drawing/2014/main" id="{D28037ED-4094-A30E-6538-10F7CCDE7FC3}"/>
              </a:ext>
            </a:extLst>
          </p:cNvPr>
          <p:cNvSpPr/>
          <p:nvPr/>
        </p:nvSpPr>
        <p:spPr>
          <a:xfrm>
            <a:off x="7378422" y="2239208"/>
            <a:ext cx="4786670" cy="52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4100"/>
              <a:buFont typeface="Spline Sans"/>
              <a:buNone/>
            </a:pPr>
            <a:endParaRPr sz="4100" b="0" i="0" u="none" strike="noStrike" cap="none" dirty="0"/>
          </a:p>
        </p:txBody>
      </p:sp>
      <p:sp>
        <p:nvSpPr>
          <p:cNvPr id="497" name="Google Shape;497;p45">
            <a:extLst>
              <a:ext uri="{FF2B5EF4-FFF2-40B4-BE49-F238E27FC236}">
                <a16:creationId xmlns:a16="http://schemas.microsoft.com/office/drawing/2014/main" id="{03E4F965-7AAC-B640-8978-6AFEE0898484}"/>
              </a:ext>
            </a:extLst>
          </p:cNvPr>
          <p:cNvSpPr/>
          <p:nvPr/>
        </p:nvSpPr>
        <p:spPr>
          <a:xfrm>
            <a:off x="8893135" y="4362331"/>
            <a:ext cx="1757124" cy="21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endParaRPr sz="1350" b="0" i="0" u="none" strike="noStrike" cap="none" dirty="0"/>
          </a:p>
        </p:txBody>
      </p:sp>
      <p:sp>
        <p:nvSpPr>
          <p:cNvPr id="498" name="Google Shape;498;p45">
            <a:extLst>
              <a:ext uri="{FF2B5EF4-FFF2-40B4-BE49-F238E27FC236}">
                <a16:creationId xmlns:a16="http://schemas.microsoft.com/office/drawing/2014/main" id="{7A838ABD-E74F-A00E-513E-618AD0BAFB55}"/>
              </a:ext>
            </a:extLst>
          </p:cNvPr>
          <p:cNvSpPr/>
          <p:nvPr/>
        </p:nvSpPr>
        <p:spPr>
          <a:xfrm>
            <a:off x="7378422" y="4642723"/>
            <a:ext cx="4786670" cy="41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endParaRPr sz="1200" b="0" i="0" u="none" strike="noStrike" cap="none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EBD13E-E8D9-BEEC-53B2-3710E5C0CD31}"/>
              </a:ext>
            </a:extLst>
          </p:cNvPr>
          <p:cNvSpPr/>
          <p:nvPr/>
        </p:nvSpPr>
        <p:spPr>
          <a:xfrm>
            <a:off x="2211193" y="1758108"/>
            <a:ext cx="8203851" cy="1324707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06B601-4D47-E557-754A-CCAAC3F7C625}"/>
              </a:ext>
            </a:extLst>
          </p:cNvPr>
          <p:cNvSpPr txBox="1"/>
          <p:nvPr/>
        </p:nvSpPr>
        <p:spPr>
          <a:xfrm>
            <a:off x="2904476" y="1635631"/>
            <a:ext cx="77606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C000"/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07FC4D-FAA0-738D-F13F-8FC41D5B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113" y="278815"/>
            <a:ext cx="7284095" cy="7950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3F9AB6-813E-2334-253C-A98FAEE292D1}"/>
              </a:ext>
            </a:extLst>
          </p:cNvPr>
          <p:cNvSpPr txBox="1"/>
          <p:nvPr/>
        </p:nvSpPr>
        <p:spPr>
          <a:xfrm>
            <a:off x="597877" y="4114800"/>
            <a:ext cx="5139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rgbClr val="FFC000"/>
                </a:solidFill>
                <a:latin typeface="Arial Rounded MT Bold" panose="020F0704030504030204" pitchFamily="34" charset="0"/>
              </a:rPr>
              <a:t>Team :- Byte-X- ploit</a:t>
            </a:r>
            <a:endParaRPr lang="en-IN" sz="4000" u="sng" dirty="0">
              <a:solidFill>
                <a:srgbClr val="FFC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A8823-0D6E-5793-F44C-ECF0EE3C081A}"/>
              </a:ext>
            </a:extLst>
          </p:cNvPr>
          <p:cNvSpPr txBox="1"/>
          <p:nvPr/>
        </p:nvSpPr>
        <p:spPr>
          <a:xfrm>
            <a:off x="1997602" y="4794739"/>
            <a:ext cx="2222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 </a:t>
            </a:r>
            <a:endParaRPr lang="en-IN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763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768</Words>
  <Application>Microsoft Office PowerPoint</Application>
  <PresentationFormat>Custom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Spline Sans</vt:lpstr>
      <vt:lpstr>Aptos Display</vt:lpstr>
      <vt:lpstr>Algerian</vt:lpstr>
      <vt:lpstr>Arial Rounded MT Bold</vt:lpstr>
      <vt:lpstr>Arial</vt:lpstr>
      <vt:lpstr>Barlow</vt:lpstr>
      <vt:lpstr>Eras Bold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 Thakur</dc:creator>
  <cp:lastModifiedBy>Raj Thakur</cp:lastModifiedBy>
  <cp:revision>8</cp:revision>
  <dcterms:modified xsi:type="dcterms:W3CDTF">2026-08-24T07:08:52Z</dcterms:modified>
</cp:coreProperties>
</file>